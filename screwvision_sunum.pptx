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556FEB-A773-394F-BE5B-C5933E15FEC5}" v="61" dt="2026-01-03T14:36:57.3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Orta Stil 4 - Vurgu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Orta Stil 4 - Vurgu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84E427A-3D55-4303-BF80-6455036E1DE7}" styleName="Tema Uygulanmış Stil 1 - Vurgu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F5AB1C69-6EDB-4FF4-983F-18BD219EF322}" styleName="Orta Stil 2 - Vurgu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Orta Stil 4 - Vurgu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7AC3CCA-C797-4891-BE02-D94E43425B78}" styleName="Orta Stil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39"/>
    <p:restoredTop sz="94627"/>
  </p:normalViewPr>
  <p:slideViewPr>
    <p:cSldViewPr snapToGrid="0">
      <p:cViewPr varScale="1">
        <p:scale>
          <a:sx n="110" d="100"/>
          <a:sy n="110" d="100"/>
        </p:scale>
        <p:origin x="9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BF97A-3D0F-2B43-AAC3-F8EB753B3ED2}" type="datetimeFigureOut">
              <a:rPr lang="tr-TR" smtClean="0"/>
              <a:t>4.01.2026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FA63ED-217B-8347-8CE2-4463D02393B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41376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FA63ED-217B-8347-8CE2-4463D02393B6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15307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FA63ED-217B-8347-8CE2-4463D02393B6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06944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6CB9035-1AEC-B45B-7EEA-ABF83D6C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3DA5A6E9-04A5-DF8F-DB6B-DFC322104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1D5F81D-C9A9-CB54-E679-F61648412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F14E6-7543-A648-A3A1-D4033D79292A}" type="datetimeFigureOut">
              <a:rPr lang="tr-TR" smtClean="0"/>
              <a:t>4.01.2026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66A9337-F9C2-42AD-BF6C-17FE713C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3B53C72-0A25-3302-35E2-06C1469A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45E42-F711-E84C-BC34-4AFBA2C87D2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79386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C7988C0-3CFC-85DF-FB5E-A5A2A7BE2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0C46287-6DC1-D22E-1EE5-3CA0EFDA2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84DAAAF-A0CE-063E-37F1-597889045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F14E6-7543-A648-A3A1-D4033D79292A}" type="datetimeFigureOut">
              <a:rPr lang="tr-TR" smtClean="0"/>
              <a:t>4.01.2026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6C82766-5C4B-D1CF-583A-CE7D7FB19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8F539FE-34C2-7431-CDEF-4D19123D6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45E42-F711-E84C-BC34-4AFBA2C87D2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16747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ED64753-71FF-DEE5-5451-86C441B2B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2897151-3D95-25D2-675B-2D41B3380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318E0C6-B8EB-38DE-1FFF-6B18C4702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F14E6-7543-A648-A3A1-D4033D79292A}" type="datetimeFigureOut">
              <a:rPr lang="tr-TR" smtClean="0"/>
              <a:t>4.01.2026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0A21B38-8BAC-74B4-B709-F7E8E4D56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C25EC90-C6E8-3C65-6A28-984F35ACA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45E42-F711-E84C-BC34-4AFBA2C87D2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30575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9378B42-6FA9-449B-BBDB-DE652626E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94BD8C6-CCBC-ACD8-6B93-1C0E060F20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088FED40-686C-28D1-CD99-949FD53CE6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A3EA432-3C2B-099D-BAFB-4EE84A8B4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F14E6-7543-A648-A3A1-D4033D79292A}" type="datetimeFigureOut">
              <a:rPr lang="tr-TR" smtClean="0"/>
              <a:t>4.01.2026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606A741-87B1-DB35-05EC-60D3A301A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506A8E67-E23B-21E5-D560-FB08F085D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45E42-F711-E84C-BC34-4AFBA2C87D2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10020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01D3BDD-5AEA-34D7-8EF5-68F4C842D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77DF45F-1897-90E1-31CE-7B0CD3FD9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35E56FD2-CEE5-F7AB-5449-005BE74F9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284312F3-1EF1-DD28-0346-BD2C92D7FA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3553B4A2-C0BF-7E30-0A10-36444D5D89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F1A84725-549E-F9B5-07A6-0D75EDE40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F14E6-7543-A648-A3A1-D4033D79292A}" type="datetimeFigureOut">
              <a:rPr lang="tr-TR" smtClean="0"/>
              <a:t>4.01.2026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0408A60B-70A5-77A9-CEF8-774E40FE9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F36CAFBC-3829-2BB9-86F2-FB8A3B526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45E42-F711-E84C-BC34-4AFBA2C87D2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99717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77332EA-5B38-C4B8-AAC4-4C944D94B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35D16D43-F15F-DD6C-6D8A-F04377734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F14E6-7543-A648-A3A1-D4033D79292A}" type="datetimeFigureOut">
              <a:rPr lang="tr-TR" smtClean="0"/>
              <a:t>4.01.2026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8F42C9F5-4992-9D02-6454-FBF766DE1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8EEA9604-DF1C-709B-E30F-587EFA82E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45E42-F711-E84C-BC34-4AFBA2C87D2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30654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42321D4E-6F46-26AC-FC4A-97678FDA4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F14E6-7543-A648-A3A1-D4033D79292A}" type="datetimeFigureOut">
              <a:rPr lang="tr-TR" smtClean="0"/>
              <a:t>4.01.2026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056190A4-2F6D-4DF6-F64B-D4603B016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AA57588F-AFBB-ACC4-4294-17B5CF3D1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45E42-F711-E84C-BC34-4AFBA2C87D2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50335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93FDA49-BCA9-7F89-3EE6-9FF2216BA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BCDEDB7-F380-C0B7-0907-68FFB7728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2F7DA6EE-3560-5C34-E54E-3C37F41D8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C6F86AB9-0AB7-88AA-BD44-58B91E803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F14E6-7543-A648-A3A1-D4033D79292A}" type="datetimeFigureOut">
              <a:rPr lang="tr-TR" smtClean="0"/>
              <a:t>4.01.2026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BA7B50C3-F0D4-7737-E747-3ED262178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0E0A28F-1909-0764-1E5D-799D66956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45E42-F711-E84C-BC34-4AFBA2C87D2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06425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EDF3130-97C3-8979-1F31-8CEA7622D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C08A3425-CDD0-1EF8-C4E8-B8DC9EAEA7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7C2F07DE-18D9-531A-8A4D-39EE3A01AD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B27E3AB-70A2-6892-F23F-91F6B137C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F14E6-7543-A648-A3A1-D4033D79292A}" type="datetimeFigureOut">
              <a:rPr lang="tr-TR" smtClean="0"/>
              <a:t>4.01.2026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20E417A-D22F-E37B-1352-7B84F895E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5F01E68-9FF6-792A-DA34-3BBC8952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45E42-F711-E84C-BC34-4AFBA2C87D2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09679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1FAF098-83C2-0359-939E-6062C2697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57570D83-CD5A-FE32-4680-F57D36138E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19F2FC9-F6CC-E757-714E-06E2E36B1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F14E6-7543-A648-A3A1-D4033D79292A}" type="datetimeFigureOut">
              <a:rPr lang="tr-TR" smtClean="0"/>
              <a:t>4.01.2026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F9FB22A-23AA-8F2D-7068-1B2F2D8EB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3484084-C12C-F67E-EB42-ADE124872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45E42-F711-E84C-BC34-4AFBA2C87D2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48744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E90DD841-18A6-2695-CE79-E21CC307C6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836ACAAD-F7C7-E12D-AFF0-411E19C7D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769A343-7669-DEFB-05BD-DE948888C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F14E6-7543-A648-A3A1-D4033D79292A}" type="datetimeFigureOut">
              <a:rPr lang="tr-TR" smtClean="0"/>
              <a:t>4.01.2026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DE5CF0B-4963-62A9-9F11-7E037E8DF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E5CEB34-81EF-AE0F-3D38-DD2D6DCD9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45E42-F711-E84C-BC34-4AFBA2C87D2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38549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002DAB99-B4B2-7C24-1218-DFEB042B9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840064D-910B-2B5C-374F-44187DDE0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3F506F6-5F49-16FD-5B96-6E301D40EF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9F14E6-7543-A648-A3A1-D4033D79292A}" type="datetimeFigureOut">
              <a:rPr lang="tr-TR" smtClean="0"/>
              <a:t>4.01.2026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48957FE-AD91-6A64-9DBD-25080DE551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2FD12AB-F3C0-64AB-C5CC-742E54903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A45E42-F711-E84C-BC34-4AFBA2C87D2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85662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onnxruntime.ai/" TargetMode="External"/><Relationship Id="rId2" Type="http://schemas.openxmlformats.org/officeDocument/2006/relationships/hyperlink" Target="https://docs.ultralytics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oboflow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F457823-FC0A-8CC5-4B40-15D1DFAE79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1141" y="2794640"/>
            <a:ext cx="11289717" cy="3648550"/>
          </a:xfrm>
        </p:spPr>
        <p:txBody>
          <a:bodyPr vert="horz" anchor="ctr">
            <a:noAutofit/>
          </a:bodyPr>
          <a:lstStyle/>
          <a:p>
            <a:br>
              <a:rPr lang="tr-TR" sz="2400" b="1" dirty="0">
                <a:solidFill>
                  <a:schemeClr val="accent6">
                    <a:lumMod val="50000"/>
                  </a:schemeClr>
                </a:solidFill>
              </a:rPr>
            </a:br>
            <a:br>
              <a:rPr lang="tr-TR" sz="2400" b="1" dirty="0">
                <a:solidFill>
                  <a:schemeClr val="accent6">
                    <a:lumMod val="50000"/>
                  </a:schemeClr>
                </a:solidFill>
              </a:rPr>
            </a:br>
            <a:br>
              <a:rPr lang="tr-TR" sz="2400" b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tr-TR" sz="2400" b="1" dirty="0">
                <a:latin typeface=""/>
              </a:rPr>
              <a:t>BIM 439</a:t>
            </a:r>
            <a:r>
              <a:rPr lang="tr-TR" sz="2400" b="1" dirty="0">
                <a:solidFill>
                  <a:schemeClr val="accent6">
                    <a:lumMod val="50000"/>
                  </a:schemeClr>
                </a:solidFill>
                <a:latin typeface=""/>
              </a:rPr>
              <a:t> </a:t>
            </a:r>
            <a:r>
              <a:rPr lang="tr-TR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DATA MINING PROJECT</a:t>
            </a:r>
            <a:br>
              <a:rPr lang="tr-TR" sz="2400" dirty="0"/>
            </a:br>
            <a:br>
              <a:rPr lang="tr-TR" sz="2400" dirty="0"/>
            </a:br>
            <a:r>
              <a:rPr lang="tr-TR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Project Name:</a:t>
            </a:r>
            <a:r>
              <a:rPr lang="tr-TR" sz="2400" dirty="0">
                <a:solidFill>
                  <a:schemeClr val="accent6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br>
              <a:rPr lang="tr-TR" sz="2400" dirty="0">
                <a:solidFill>
                  <a:schemeClr val="accent6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tr-TR" sz="2400" dirty="0">
                <a:solidFill>
                  <a:schemeClr val="accent6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tr-TR" sz="2400" dirty="0" err="1">
                <a:latin typeface="Arial" panose="020B0604020202020204" pitchFamily="34" charset="0"/>
                <a:cs typeface="Arial" panose="020B0604020202020204" pitchFamily="34" charset="0"/>
              </a:rPr>
              <a:t>ScrewVision</a:t>
            </a:r>
            <a:r>
              <a:rPr lang="tr-TR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tr-TR" sz="2400" dirty="0" err="1">
                <a:latin typeface="Arial" panose="020B0604020202020204" pitchFamily="34" charset="0"/>
                <a:cs typeface="Arial" panose="020B0604020202020204" pitchFamily="34" charset="0"/>
              </a:rPr>
              <a:t>Intelligent</a:t>
            </a:r>
            <a:r>
              <a:rPr lang="tr-T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2400" dirty="0" err="1">
                <a:latin typeface="Arial" panose="020B0604020202020204" pitchFamily="34" charset="0"/>
                <a:cs typeface="Arial" panose="020B0604020202020204" pitchFamily="34" charset="0"/>
              </a:rPr>
              <a:t>Screw</a:t>
            </a:r>
            <a:r>
              <a:rPr lang="tr-T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2400" dirty="0" err="1"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  <a:r>
              <a:rPr lang="tr-T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2400" dirty="0" err="1"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r>
              <a:rPr lang="tr-TR" sz="2400" dirty="0">
                <a:latin typeface="Arial" panose="020B0604020202020204" pitchFamily="34" charset="0"/>
                <a:cs typeface="Arial" panose="020B0604020202020204" pitchFamily="34" charset="0"/>
              </a:rPr>
              <a:t> YOLOv8</a:t>
            </a:r>
            <a:br>
              <a:rPr lang="tr-TR" sz="2400" dirty="0"/>
            </a:br>
            <a:br>
              <a:rPr lang="tr-TR" sz="2400" dirty="0"/>
            </a:br>
            <a:r>
              <a:rPr lang="tr-TR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Team </a:t>
            </a:r>
            <a:r>
              <a:rPr lang="tr-TR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Members</a:t>
            </a:r>
            <a:r>
              <a:rPr lang="tr-TR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br>
              <a:rPr lang="tr-TR" sz="24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tr-TR" sz="2400" b="1" dirty="0"/>
            </a:br>
            <a:r>
              <a:rPr lang="tr-TR" sz="2400" dirty="0">
                <a:latin typeface="Arial" panose="020B0604020202020204" pitchFamily="34" charset="0"/>
                <a:cs typeface="Arial" panose="020B0604020202020204" pitchFamily="34" charset="0"/>
              </a:rPr>
              <a:t>Ömer EDEBALI - 030721030</a:t>
            </a:r>
            <a:br>
              <a:rPr lang="tr-T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tr-TR" sz="2400" dirty="0">
                <a:latin typeface="Arial" panose="020B0604020202020204" pitchFamily="34" charset="0"/>
                <a:cs typeface="Arial" panose="020B0604020202020204" pitchFamily="34" charset="0"/>
              </a:rPr>
              <a:t>Abdullah Kerem YAVUZ - 030722098</a:t>
            </a:r>
            <a:br>
              <a:rPr lang="tr-TR" sz="2400" dirty="0"/>
            </a:br>
            <a:br>
              <a:rPr lang="tr-TR" sz="2400" dirty="0"/>
            </a:br>
            <a:br>
              <a:rPr lang="tr-TR" sz="2400" dirty="0"/>
            </a:br>
            <a:endParaRPr lang="tr-TR" sz="2400" dirty="0"/>
          </a:p>
        </p:txBody>
      </p:sp>
      <p:pic>
        <p:nvPicPr>
          <p:cNvPr id="5" name="Resim 4" descr="metin, yazı tipi, grafik, logo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D5170F5-AD94-E03D-3940-0D5EB9829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327" y="414810"/>
            <a:ext cx="2154016" cy="2029035"/>
          </a:xfrm>
          <a:prstGeom prst="rect">
            <a:avLst/>
          </a:prstGeom>
        </p:spPr>
      </p:pic>
      <p:pic>
        <p:nvPicPr>
          <p:cNvPr id="4" name="Resim 3" descr="logo, simge, sembol, kırpıntı çizim, grafi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4630E7E-4249-9E07-7441-C87E08DCE6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5658" y="437594"/>
            <a:ext cx="2154016" cy="2051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415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71D1FFA-D2E1-C0AD-6753-4588891F9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b="1" dirty="0" err="1">
                <a:latin typeface=""/>
              </a:rPr>
              <a:t>Abstract</a:t>
            </a:r>
            <a:endParaRPr lang="tr-TR" sz="4000" b="1" dirty="0">
              <a:latin typeface="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3C024FB-3BF9-B86A-DECA-C6688DF40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5202"/>
            <a:ext cx="10515600" cy="4086328"/>
          </a:xfrm>
        </p:spPr>
        <p:txBody>
          <a:bodyPr>
            <a:normAutofit/>
          </a:bodyPr>
          <a:lstStyle/>
          <a:p>
            <a:r>
              <a:rPr lang="tr-TR" dirty="0" err="1"/>
              <a:t>In</a:t>
            </a:r>
            <a:r>
              <a:rPr lang="tr-TR" dirty="0"/>
              <a:t> </a:t>
            </a:r>
            <a:r>
              <a:rPr lang="tr-TR" dirty="0" err="1"/>
              <a:t>our</a:t>
            </a:r>
            <a:r>
              <a:rPr lang="tr-TR" dirty="0"/>
              <a:t> </a:t>
            </a:r>
            <a:r>
              <a:rPr lang="tr-TR" dirty="0" err="1"/>
              <a:t>study</a:t>
            </a:r>
            <a:r>
              <a:rPr lang="tr-TR" dirty="0"/>
              <a:t>, an AI-</a:t>
            </a:r>
            <a:r>
              <a:rPr lang="tr-TR" dirty="0" err="1"/>
              <a:t>powered</a:t>
            </a:r>
            <a:r>
              <a:rPr lang="tr-TR" dirty="0"/>
              <a:t> mobile </a:t>
            </a:r>
            <a:r>
              <a:rPr lang="tr-TR" dirty="0" err="1"/>
              <a:t>system</a:t>
            </a:r>
            <a:r>
              <a:rPr lang="tr-TR" dirty="0"/>
              <a:t> </a:t>
            </a:r>
            <a:r>
              <a:rPr lang="tr-TR" dirty="0" err="1"/>
              <a:t>based</a:t>
            </a:r>
            <a:r>
              <a:rPr lang="tr-TR" dirty="0"/>
              <a:t> on </a:t>
            </a:r>
            <a:r>
              <a:rPr lang="tr-TR" b="1" dirty="0"/>
              <a:t>YOLOv8</a:t>
            </a:r>
            <a:r>
              <a:rPr lang="tr-TR" dirty="0"/>
              <a:t> has </a:t>
            </a:r>
            <a:r>
              <a:rPr lang="tr-TR" dirty="0" err="1"/>
              <a:t>been</a:t>
            </a:r>
            <a:r>
              <a:rPr lang="tr-TR" dirty="0"/>
              <a:t> </a:t>
            </a:r>
            <a:r>
              <a:rPr lang="tr-TR" dirty="0" err="1"/>
              <a:t>developed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automatically</a:t>
            </a:r>
            <a:r>
              <a:rPr lang="tr-TR" dirty="0"/>
              <a:t> </a:t>
            </a:r>
            <a:r>
              <a:rPr lang="tr-TR" dirty="0" err="1"/>
              <a:t>identify</a:t>
            </a:r>
            <a:r>
              <a:rPr lang="tr-TR" dirty="0"/>
              <a:t> </a:t>
            </a:r>
            <a:r>
              <a:rPr lang="tr-TR" dirty="0" err="1"/>
              <a:t>different</a:t>
            </a:r>
            <a:r>
              <a:rPr lang="tr-TR" dirty="0"/>
              <a:t> </a:t>
            </a:r>
            <a:r>
              <a:rPr lang="tr-TR" dirty="0" err="1"/>
              <a:t>screw</a:t>
            </a:r>
            <a:r>
              <a:rPr lang="tr-TR" dirty="0"/>
              <a:t> </a:t>
            </a:r>
            <a:r>
              <a:rPr lang="tr-TR" dirty="0" err="1"/>
              <a:t>drives</a:t>
            </a:r>
            <a:r>
              <a:rPr lang="tr-TR" dirty="0"/>
              <a:t> (Phillips, </a:t>
            </a:r>
            <a:r>
              <a:rPr lang="tr-TR" dirty="0" err="1"/>
              <a:t>Torx</a:t>
            </a:r>
            <a:r>
              <a:rPr lang="tr-TR" dirty="0"/>
              <a:t>, Allen, </a:t>
            </a:r>
            <a:r>
              <a:rPr lang="tr-TR" dirty="0" err="1"/>
              <a:t>etc</a:t>
            </a:r>
            <a:r>
              <a:rPr lang="tr-TR" dirty="0"/>
              <a:t>.) </a:t>
            </a:r>
            <a:r>
              <a:rPr lang="tr-TR" dirty="0" err="1"/>
              <a:t>commonly</a:t>
            </a:r>
            <a:r>
              <a:rPr lang="tr-TR" dirty="0"/>
              <a:t> </a:t>
            </a:r>
            <a:r>
              <a:rPr lang="tr-TR" dirty="0" err="1"/>
              <a:t>encountered</a:t>
            </a:r>
            <a:r>
              <a:rPr lang="tr-TR" dirty="0"/>
              <a:t> in </a:t>
            </a:r>
            <a:r>
              <a:rPr lang="tr-TR" dirty="0" err="1"/>
              <a:t>assembly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maintenance</a:t>
            </a:r>
            <a:r>
              <a:rPr lang="tr-TR" dirty="0"/>
              <a:t> </a:t>
            </a:r>
            <a:r>
              <a:rPr lang="tr-TR" dirty="0" err="1"/>
              <a:t>processes</a:t>
            </a:r>
            <a:r>
              <a:rPr lang="tr-TR" dirty="0"/>
              <a:t>.</a:t>
            </a:r>
          </a:p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system</a:t>
            </a:r>
            <a:r>
              <a:rPr lang="tr-TR" dirty="0"/>
              <a:t> </a:t>
            </a:r>
            <a:r>
              <a:rPr lang="tr-TR" dirty="0" err="1"/>
              <a:t>analyzes</a:t>
            </a:r>
            <a:r>
              <a:rPr lang="tr-TR" dirty="0"/>
              <a:t> </a:t>
            </a:r>
            <a:r>
              <a:rPr lang="tr-TR" dirty="0" err="1"/>
              <a:t>images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mobile </a:t>
            </a:r>
            <a:r>
              <a:rPr lang="tr-TR" dirty="0" err="1"/>
              <a:t>device</a:t>
            </a:r>
            <a:r>
              <a:rPr lang="tr-TR" dirty="0"/>
              <a:t> </a:t>
            </a:r>
            <a:r>
              <a:rPr lang="tr-TR" dirty="0" err="1"/>
              <a:t>camera</a:t>
            </a:r>
            <a:r>
              <a:rPr lang="tr-TR" dirty="0"/>
              <a:t> in </a:t>
            </a:r>
            <a:r>
              <a:rPr lang="tr-TR" b="1" dirty="0" err="1"/>
              <a:t>real</a:t>
            </a:r>
            <a:r>
              <a:rPr lang="tr-TR" b="1" dirty="0"/>
              <a:t>-time</a:t>
            </a:r>
            <a:r>
              <a:rPr lang="tr-TR" dirty="0"/>
              <a:t>, </a:t>
            </a:r>
            <a:r>
              <a:rPr lang="tr-TR" dirty="0" err="1"/>
              <a:t>detecting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screw</a:t>
            </a:r>
            <a:r>
              <a:rPr lang="tr-TR" dirty="0"/>
              <a:t> </a:t>
            </a:r>
            <a:r>
              <a:rPr lang="tr-TR" dirty="0" err="1"/>
              <a:t>type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high</a:t>
            </a:r>
            <a:r>
              <a:rPr lang="tr-TR" dirty="0"/>
              <a:t> </a:t>
            </a:r>
            <a:r>
              <a:rPr lang="tr-TR" dirty="0" err="1"/>
              <a:t>accuracy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providing</a:t>
            </a:r>
            <a:r>
              <a:rPr lang="tr-TR" dirty="0"/>
              <a:t> </a:t>
            </a:r>
            <a:r>
              <a:rPr lang="tr-TR" dirty="0" err="1"/>
              <a:t>instant</a:t>
            </a:r>
            <a:r>
              <a:rPr lang="tr-TR" dirty="0"/>
              <a:t> </a:t>
            </a:r>
            <a:r>
              <a:rPr lang="tr-TR" dirty="0" err="1"/>
              <a:t>visual</a:t>
            </a:r>
            <a:r>
              <a:rPr lang="tr-TR" dirty="0"/>
              <a:t> </a:t>
            </a:r>
            <a:r>
              <a:rPr lang="tr-TR" dirty="0" err="1"/>
              <a:t>feedback</a:t>
            </a:r>
            <a:r>
              <a:rPr lang="tr-TR" dirty="0"/>
              <a:t>. Through </a:t>
            </a:r>
            <a:r>
              <a:rPr lang="tr-TR" b="1" dirty="0"/>
              <a:t>ONNX Runtime</a:t>
            </a:r>
            <a:r>
              <a:rPr lang="tr-TR" dirty="0"/>
              <a:t> </a:t>
            </a:r>
            <a:r>
              <a:rPr lang="tr-TR" dirty="0" err="1"/>
              <a:t>optimization</a:t>
            </a:r>
            <a:r>
              <a:rPr lang="tr-TR" dirty="0"/>
              <a:t>,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models</a:t>
            </a:r>
            <a:r>
              <a:rPr lang="tr-TR" dirty="0"/>
              <a:t> </a:t>
            </a:r>
            <a:r>
              <a:rPr lang="tr-TR" dirty="0" err="1"/>
              <a:t>achieve</a:t>
            </a:r>
            <a:r>
              <a:rPr lang="tr-TR" dirty="0"/>
              <a:t> </a:t>
            </a:r>
            <a:r>
              <a:rPr lang="tr-TR" dirty="0" err="1"/>
              <a:t>high</a:t>
            </a:r>
            <a:r>
              <a:rPr lang="tr-TR" dirty="0"/>
              <a:t> </a:t>
            </a:r>
            <a:r>
              <a:rPr lang="tr-TR" dirty="0" err="1"/>
              <a:t>efficiency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minimum </a:t>
            </a:r>
            <a:r>
              <a:rPr lang="tr-TR" dirty="0" err="1"/>
              <a:t>latency</a:t>
            </a:r>
            <a:r>
              <a:rPr lang="tr-TR" dirty="0"/>
              <a:t> on mobile </a:t>
            </a:r>
            <a:r>
              <a:rPr lang="tr-TR" dirty="0" err="1"/>
              <a:t>devices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4649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C52DCB7-88A6-FF84-C338-358034CE8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b="1" dirty="0" err="1">
                <a:latin typeface=""/>
              </a:rPr>
              <a:t>Introduction</a:t>
            </a:r>
            <a:endParaRPr lang="tr-TR" b="1" dirty="0">
              <a:latin typeface="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7EE8A92-8108-301D-20FE-B16BBECAE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69728"/>
            <a:ext cx="10515600" cy="432314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tr-TR" b="1" dirty="0"/>
              <a:t>Problem Statement:</a:t>
            </a:r>
            <a:endParaRPr lang="tr-TR" dirty="0"/>
          </a:p>
          <a:p>
            <a:r>
              <a:rPr lang="tr-TR" dirty="0" err="1"/>
              <a:t>Incorrect</a:t>
            </a:r>
            <a:r>
              <a:rPr lang="tr-TR" dirty="0"/>
              <a:t> </a:t>
            </a:r>
            <a:r>
              <a:rPr lang="tr-TR" dirty="0" err="1"/>
              <a:t>identification</a:t>
            </a:r>
            <a:r>
              <a:rPr lang="tr-TR" dirty="0"/>
              <a:t> of </a:t>
            </a:r>
            <a:r>
              <a:rPr lang="tr-TR" dirty="0" err="1"/>
              <a:t>fasteners</a:t>
            </a:r>
            <a:r>
              <a:rPr lang="tr-TR" dirty="0"/>
              <a:t> </a:t>
            </a:r>
            <a:r>
              <a:rPr lang="tr-TR" dirty="0" err="1"/>
              <a:t>during</a:t>
            </a:r>
            <a:r>
              <a:rPr lang="tr-TR" dirty="0"/>
              <a:t> </a:t>
            </a:r>
            <a:r>
              <a:rPr lang="tr-TR" dirty="0" err="1"/>
              <a:t>assembly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maintenance</a:t>
            </a:r>
            <a:r>
              <a:rPr lang="tr-TR" dirty="0"/>
              <a:t> </a:t>
            </a:r>
            <a:r>
              <a:rPr lang="tr-TR" dirty="0" err="1"/>
              <a:t>leads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mechanical</a:t>
            </a:r>
            <a:r>
              <a:rPr lang="tr-TR" dirty="0"/>
              <a:t> </a:t>
            </a:r>
            <a:r>
              <a:rPr lang="tr-TR" dirty="0" err="1"/>
              <a:t>failures</a:t>
            </a:r>
            <a:r>
              <a:rPr lang="tr-TR" dirty="0"/>
              <a:t>, </a:t>
            </a:r>
            <a:r>
              <a:rPr lang="tr-TR" dirty="0" err="1"/>
              <a:t>stripped</a:t>
            </a:r>
            <a:r>
              <a:rPr lang="tr-TR" dirty="0"/>
              <a:t> </a:t>
            </a:r>
            <a:r>
              <a:rPr lang="tr-TR" dirty="0" err="1"/>
              <a:t>screws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significant</a:t>
            </a:r>
            <a:r>
              <a:rPr lang="tr-TR" dirty="0"/>
              <a:t> time </a:t>
            </a:r>
            <a:r>
              <a:rPr lang="tr-TR" dirty="0" err="1"/>
              <a:t>loss</a:t>
            </a:r>
            <a:r>
              <a:rPr lang="tr-TR" dirty="0"/>
              <a:t>.</a:t>
            </a:r>
          </a:p>
          <a:p>
            <a:pPr marL="0" indent="0">
              <a:buNone/>
            </a:pPr>
            <a:r>
              <a:rPr lang="tr-TR" b="1" dirty="0" err="1"/>
              <a:t>Why</a:t>
            </a:r>
            <a:r>
              <a:rPr lang="tr-TR" b="1" dirty="0"/>
              <a:t> </a:t>
            </a:r>
            <a:r>
              <a:rPr lang="tr-TR" b="1" dirty="0" err="1"/>
              <a:t>It</a:t>
            </a:r>
            <a:r>
              <a:rPr lang="tr-TR" b="1" dirty="0"/>
              <a:t> </a:t>
            </a:r>
            <a:r>
              <a:rPr lang="tr-TR" b="1" dirty="0" err="1"/>
              <a:t>Matters</a:t>
            </a:r>
            <a:r>
              <a:rPr lang="tr-TR" b="1" dirty="0"/>
              <a:t>:</a:t>
            </a:r>
            <a:endParaRPr lang="tr-TR" dirty="0"/>
          </a:p>
          <a:p>
            <a:r>
              <a:rPr lang="tr-TR" dirty="0" err="1"/>
              <a:t>Accurate</a:t>
            </a:r>
            <a:r>
              <a:rPr lang="tr-TR" dirty="0"/>
              <a:t> </a:t>
            </a:r>
            <a:r>
              <a:rPr lang="tr-TR" dirty="0" err="1"/>
              <a:t>screw</a:t>
            </a:r>
            <a:r>
              <a:rPr lang="tr-TR" dirty="0"/>
              <a:t> </a:t>
            </a:r>
            <a:r>
              <a:rPr lang="tr-TR" dirty="0" err="1"/>
              <a:t>identification</a:t>
            </a:r>
            <a:r>
              <a:rPr lang="tr-TR" dirty="0"/>
              <a:t> </a:t>
            </a:r>
            <a:r>
              <a:rPr lang="tr-TR" dirty="0" err="1"/>
              <a:t>ensures</a:t>
            </a:r>
            <a:r>
              <a:rPr lang="tr-TR" dirty="0"/>
              <a:t> </a:t>
            </a:r>
            <a:r>
              <a:rPr lang="tr-TR" dirty="0" err="1"/>
              <a:t>structural</a:t>
            </a:r>
            <a:r>
              <a:rPr lang="tr-TR" dirty="0"/>
              <a:t> </a:t>
            </a:r>
            <a:r>
              <a:rPr lang="tr-TR" dirty="0" err="1"/>
              <a:t>integrity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operational</a:t>
            </a:r>
            <a:r>
              <a:rPr lang="tr-TR" dirty="0"/>
              <a:t> </a:t>
            </a:r>
            <a:r>
              <a:rPr lang="tr-TR" dirty="0" err="1"/>
              <a:t>efficiency</a:t>
            </a:r>
            <a:r>
              <a:rPr lang="tr-TR" dirty="0"/>
              <a:t>. </a:t>
            </a:r>
            <a:r>
              <a:rPr lang="tr-TR" dirty="0" err="1"/>
              <a:t>However</a:t>
            </a:r>
            <a:r>
              <a:rPr lang="tr-TR" dirty="0"/>
              <a:t>, </a:t>
            </a:r>
            <a:r>
              <a:rPr lang="tr-TR" dirty="0" err="1"/>
              <a:t>manual</a:t>
            </a:r>
            <a:r>
              <a:rPr lang="tr-TR" dirty="0"/>
              <a:t> </a:t>
            </a:r>
            <a:r>
              <a:rPr lang="tr-TR" dirty="0" err="1"/>
              <a:t>identification</a:t>
            </a:r>
            <a:r>
              <a:rPr lang="tr-TR" dirty="0"/>
              <a:t> is </a:t>
            </a:r>
            <a:r>
              <a:rPr lang="tr-TR" dirty="0" err="1"/>
              <a:t>often</a:t>
            </a:r>
            <a:r>
              <a:rPr lang="tr-TR" dirty="0"/>
              <a:t> </a:t>
            </a:r>
            <a:r>
              <a:rPr lang="tr-TR" dirty="0" err="1"/>
              <a:t>slow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prone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human</a:t>
            </a:r>
            <a:r>
              <a:rPr lang="tr-TR" dirty="0"/>
              <a:t> </a:t>
            </a:r>
            <a:r>
              <a:rPr lang="tr-TR" dirty="0" err="1"/>
              <a:t>error</a:t>
            </a:r>
            <a:r>
              <a:rPr lang="tr-TR" dirty="0"/>
              <a:t>, </a:t>
            </a:r>
            <a:r>
              <a:rPr lang="tr-TR" dirty="0" err="1"/>
              <a:t>especially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similar</a:t>
            </a:r>
            <a:r>
              <a:rPr lang="tr-TR" dirty="0"/>
              <a:t> </a:t>
            </a:r>
            <a:r>
              <a:rPr lang="tr-TR" dirty="0" err="1"/>
              <a:t>drive</a:t>
            </a:r>
            <a:r>
              <a:rPr lang="tr-TR" dirty="0"/>
              <a:t> </a:t>
            </a:r>
            <a:r>
              <a:rPr lang="tr-TR" dirty="0" err="1"/>
              <a:t>types</a:t>
            </a:r>
            <a:r>
              <a:rPr lang="tr-TR" dirty="0"/>
              <a:t>.</a:t>
            </a:r>
          </a:p>
          <a:p>
            <a:pPr marL="0" indent="0">
              <a:buNone/>
            </a:pPr>
            <a:r>
              <a:rPr lang="tr-TR" b="1" dirty="0" err="1"/>
              <a:t>Objectives</a:t>
            </a:r>
            <a:r>
              <a:rPr lang="tr-TR" b="1" dirty="0"/>
              <a:t>:</a:t>
            </a:r>
            <a:endParaRPr lang="tr-TR" dirty="0"/>
          </a:p>
          <a:p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develop</a:t>
            </a:r>
            <a:r>
              <a:rPr lang="tr-TR" dirty="0"/>
              <a:t> an AI </a:t>
            </a:r>
            <a:r>
              <a:rPr lang="tr-TR" dirty="0" err="1"/>
              <a:t>system</a:t>
            </a:r>
            <a:r>
              <a:rPr lang="tr-TR" dirty="0"/>
              <a:t> </a:t>
            </a:r>
            <a:r>
              <a:rPr lang="tr-TR" dirty="0" err="1"/>
              <a:t>capable</a:t>
            </a:r>
            <a:r>
              <a:rPr lang="tr-TR" dirty="0"/>
              <a:t> of </a:t>
            </a:r>
            <a:r>
              <a:rPr lang="tr-TR" dirty="0" err="1"/>
              <a:t>automatically</a:t>
            </a:r>
            <a:r>
              <a:rPr lang="tr-TR" dirty="0"/>
              <a:t> </a:t>
            </a:r>
            <a:r>
              <a:rPr lang="tr-TR" dirty="0" err="1"/>
              <a:t>recognizing</a:t>
            </a:r>
            <a:r>
              <a:rPr lang="tr-TR" dirty="0"/>
              <a:t> </a:t>
            </a:r>
            <a:r>
              <a:rPr lang="tr-TR" dirty="0" err="1"/>
              <a:t>various</a:t>
            </a:r>
            <a:r>
              <a:rPr lang="tr-TR" dirty="0"/>
              <a:t> </a:t>
            </a:r>
            <a:r>
              <a:rPr lang="tr-TR" dirty="0" err="1"/>
              <a:t>screw</a:t>
            </a:r>
            <a:r>
              <a:rPr lang="tr-TR" dirty="0"/>
              <a:t> </a:t>
            </a:r>
            <a:r>
              <a:rPr lang="tr-TR" dirty="0" err="1"/>
              <a:t>head</a:t>
            </a:r>
            <a:r>
              <a:rPr lang="tr-TR" dirty="0"/>
              <a:t> </a:t>
            </a:r>
            <a:r>
              <a:rPr lang="tr-TR" dirty="0" err="1"/>
              <a:t>types</a:t>
            </a:r>
            <a:r>
              <a:rPr lang="tr-TR" dirty="0"/>
              <a:t>.</a:t>
            </a:r>
          </a:p>
          <a:p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provide</a:t>
            </a:r>
            <a:r>
              <a:rPr lang="tr-TR" dirty="0"/>
              <a:t> a </a:t>
            </a:r>
            <a:r>
              <a:rPr lang="tr-TR" dirty="0" err="1"/>
              <a:t>real</a:t>
            </a:r>
            <a:r>
              <a:rPr lang="tr-TR" dirty="0"/>
              <a:t>-time, mobile-</a:t>
            </a:r>
            <a:r>
              <a:rPr lang="tr-TR" dirty="0" err="1"/>
              <a:t>compatible</a:t>
            </a:r>
            <a:r>
              <a:rPr lang="tr-TR" dirty="0"/>
              <a:t> </a:t>
            </a:r>
            <a:r>
              <a:rPr lang="tr-TR" dirty="0" err="1"/>
              <a:t>solution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industrial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DIY </a:t>
            </a:r>
            <a:r>
              <a:rPr lang="tr-TR" dirty="0" err="1"/>
              <a:t>use</a:t>
            </a:r>
            <a:r>
              <a:rPr lang="tr-TR" dirty="0"/>
              <a:t>.</a:t>
            </a:r>
          </a:p>
          <a:p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achieve</a:t>
            </a:r>
            <a:r>
              <a:rPr lang="tr-TR" dirty="0"/>
              <a:t> </a:t>
            </a:r>
            <a:r>
              <a:rPr lang="tr-TR" dirty="0" err="1"/>
              <a:t>high</a:t>
            </a:r>
            <a:r>
              <a:rPr lang="tr-TR" dirty="0"/>
              <a:t> </a:t>
            </a:r>
            <a:r>
              <a:rPr lang="tr-TR" dirty="0" err="1"/>
              <a:t>classification</a:t>
            </a:r>
            <a:r>
              <a:rPr lang="tr-TR" dirty="0"/>
              <a:t> </a:t>
            </a:r>
            <a:r>
              <a:rPr lang="tr-TR" dirty="0" err="1"/>
              <a:t>accuracy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low</a:t>
            </a:r>
            <a:r>
              <a:rPr lang="tr-TR" dirty="0"/>
              <a:t> </a:t>
            </a:r>
            <a:r>
              <a:rPr lang="tr-TR" dirty="0" err="1"/>
              <a:t>latency</a:t>
            </a:r>
            <a:r>
              <a:rPr lang="tr-TR" dirty="0"/>
              <a:t> on </a:t>
            </a:r>
            <a:r>
              <a:rPr lang="tr-TR" dirty="0" err="1"/>
              <a:t>edge</a:t>
            </a:r>
            <a:r>
              <a:rPr lang="tr-TR" dirty="0"/>
              <a:t> </a:t>
            </a:r>
            <a:r>
              <a:rPr lang="tr-TR" dirty="0" err="1"/>
              <a:t>devices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6758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F467B24-D779-7F9B-6F85-B1A98F8AC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074"/>
            <a:ext cx="10515600" cy="961250"/>
          </a:xfrm>
        </p:spPr>
        <p:txBody>
          <a:bodyPr/>
          <a:lstStyle/>
          <a:p>
            <a:pPr algn="ctr"/>
            <a:r>
              <a:rPr lang="tr-TR" b="1" dirty="0" err="1">
                <a:latin typeface=""/>
                <a:cs typeface="Segoe UI" panose="020B0502040204020203" pitchFamily="34" charset="0"/>
              </a:rPr>
              <a:t>Literature</a:t>
            </a:r>
            <a:r>
              <a:rPr lang="tr-TR" b="1" dirty="0">
                <a:latin typeface=""/>
                <a:cs typeface="Segoe UI" panose="020B0502040204020203" pitchFamily="34" charset="0"/>
              </a:rPr>
              <a:t> </a:t>
            </a:r>
            <a:r>
              <a:rPr lang="tr-TR" b="1" dirty="0" err="1">
                <a:latin typeface=""/>
                <a:cs typeface="Segoe UI" panose="020B0502040204020203" pitchFamily="34" charset="0"/>
              </a:rPr>
              <a:t>Review</a:t>
            </a:r>
            <a:endParaRPr lang="tr-TR" b="1" dirty="0">
              <a:latin typeface=""/>
              <a:cs typeface="Segoe UI" panose="020B0502040204020203" pitchFamily="34" charset="0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0BA4DAD-52CC-BB19-2045-6ECD6F726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6375"/>
            <a:ext cx="10294620" cy="1952522"/>
          </a:xfrm>
        </p:spPr>
        <p:txBody>
          <a:bodyPr>
            <a:normAutofit fontScale="85000" lnSpcReduction="20000"/>
          </a:bodyPr>
          <a:lstStyle/>
          <a:p>
            <a:r>
              <a:rPr lang="tr-TR" b="1" dirty="0"/>
              <a:t>Object </a:t>
            </a:r>
            <a:r>
              <a:rPr lang="tr-TR" b="1" dirty="0" err="1"/>
              <a:t>Detection</a:t>
            </a:r>
            <a:r>
              <a:rPr lang="tr-TR" b="1" dirty="0"/>
              <a:t>:</a:t>
            </a:r>
            <a:r>
              <a:rPr lang="tr-TR" dirty="0"/>
              <a:t> </a:t>
            </a:r>
            <a:r>
              <a:rPr lang="tr-TR" dirty="0" err="1"/>
              <a:t>Traditional</a:t>
            </a:r>
            <a:r>
              <a:rPr lang="tr-TR" dirty="0"/>
              <a:t> </a:t>
            </a:r>
            <a:r>
              <a:rPr lang="tr-TR" dirty="0" err="1"/>
              <a:t>methods</a:t>
            </a:r>
            <a:r>
              <a:rPr lang="tr-TR" dirty="0"/>
              <a:t> (</a:t>
            </a:r>
            <a:r>
              <a:rPr lang="tr-TR" dirty="0" err="1"/>
              <a:t>Edge</a:t>
            </a:r>
            <a:r>
              <a:rPr lang="tr-TR" dirty="0"/>
              <a:t> </a:t>
            </a:r>
            <a:r>
              <a:rPr lang="tr-TR" dirty="0" err="1"/>
              <a:t>detection</a:t>
            </a:r>
            <a:r>
              <a:rPr lang="tr-TR" dirty="0"/>
              <a:t>) vs. </a:t>
            </a:r>
            <a:r>
              <a:rPr lang="tr-TR" dirty="0" err="1"/>
              <a:t>Deep</a:t>
            </a:r>
            <a:r>
              <a:rPr lang="tr-TR" dirty="0"/>
              <a:t> Learning (</a:t>
            </a:r>
            <a:r>
              <a:rPr lang="tr-TR" dirty="0" err="1"/>
              <a:t>CNNs</a:t>
            </a:r>
            <a:r>
              <a:rPr lang="tr-TR" dirty="0"/>
              <a:t>).</a:t>
            </a:r>
          </a:p>
          <a:p>
            <a:r>
              <a:rPr lang="tr-TR" b="1" dirty="0"/>
              <a:t>YOLO (</a:t>
            </a:r>
            <a:r>
              <a:rPr lang="tr-TR" b="1" dirty="0" err="1"/>
              <a:t>You</a:t>
            </a:r>
            <a:r>
              <a:rPr lang="tr-TR" b="1" dirty="0"/>
              <a:t> </a:t>
            </a:r>
            <a:r>
              <a:rPr lang="tr-TR" b="1" dirty="0" err="1"/>
              <a:t>Only</a:t>
            </a:r>
            <a:r>
              <a:rPr lang="tr-TR" b="1" dirty="0"/>
              <a:t> </a:t>
            </a:r>
            <a:r>
              <a:rPr lang="tr-TR" b="1" dirty="0" err="1"/>
              <a:t>Look</a:t>
            </a:r>
            <a:r>
              <a:rPr lang="tr-TR" b="1" dirty="0"/>
              <a:t> </a:t>
            </a:r>
            <a:r>
              <a:rPr lang="tr-TR" b="1" dirty="0" err="1"/>
              <a:t>Once</a:t>
            </a:r>
            <a:r>
              <a:rPr lang="tr-TR" b="1" dirty="0"/>
              <a:t>):</a:t>
            </a:r>
            <a:r>
              <a:rPr lang="tr-TR" dirty="0"/>
              <a:t> </a:t>
            </a:r>
            <a:r>
              <a:rPr lang="tr-TR" dirty="0" err="1"/>
              <a:t>Selected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its</a:t>
            </a:r>
            <a:r>
              <a:rPr lang="tr-TR" dirty="0"/>
              <a:t> </a:t>
            </a:r>
            <a:r>
              <a:rPr lang="tr-TR" dirty="0" err="1"/>
              <a:t>high</a:t>
            </a:r>
            <a:r>
              <a:rPr lang="tr-TR" dirty="0"/>
              <a:t> </a:t>
            </a:r>
            <a:r>
              <a:rPr lang="tr-TR" dirty="0" err="1"/>
              <a:t>speed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real</a:t>
            </a:r>
            <a:r>
              <a:rPr lang="tr-TR" dirty="0"/>
              <a:t>-time </a:t>
            </a:r>
            <a:r>
              <a:rPr lang="tr-TR" dirty="0" err="1"/>
              <a:t>detection</a:t>
            </a:r>
            <a:r>
              <a:rPr lang="tr-TR" dirty="0"/>
              <a:t> </a:t>
            </a:r>
            <a:r>
              <a:rPr lang="tr-TR" dirty="0" err="1"/>
              <a:t>capabilities</a:t>
            </a:r>
            <a:r>
              <a:rPr lang="tr-TR" dirty="0"/>
              <a:t>.</a:t>
            </a:r>
          </a:p>
          <a:p>
            <a:r>
              <a:rPr lang="tr-TR" b="1" dirty="0"/>
              <a:t>YOLOv8:</a:t>
            </a:r>
            <a:r>
              <a:rPr lang="tr-TR" dirty="0"/>
              <a:t> 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latest</a:t>
            </a:r>
            <a:r>
              <a:rPr lang="tr-TR" dirty="0"/>
              <a:t> </a:t>
            </a:r>
            <a:r>
              <a:rPr lang="tr-TR" dirty="0" err="1"/>
              <a:t>iteration</a:t>
            </a:r>
            <a:r>
              <a:rPr lang="tr-TR" dirty="0"/>
              <a:t> </a:t>
            </a:r>
            <a:r>
              <a:rPr lang="tr-TR" dirty="0" err="1"/>
              <a:t>offering</a:t>
            </a:r>
            <a:r>
              <a:rPr lang="tr-TR" dirty="0"/>
              <a:t> </a:t>
            </a:r>
            <a:r>
              <a:rPr lang="tr-TR" dirty="0" err="1"/>
              <a:t>better</a:t>
            </a:r>
            <a:r>
              <a:rPr lang="tr-TR" dirty="0"/>
              <a:t> </a:t>
            </a:r>
            <a:r>
              <a:rPr lang="tr-TR" dirty="0" err="1"/>
              <a:t>accuracy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smaller</a:t>
            </a:r>
            <a:r>
              <a:rPr lang="tr-TR" dirty="0"/>
              <a:t> model size </a:t>
            </a:r>
            <a:r>
              <a:rPr lang="tr-TR" dirty="0" err="1"/>
              <a:t>compared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previous</a:t>
            </a:r>
            <a:r>
              <a:rPr lang="tr-TR" dirty="0"/>
              <a:t> </a:t>
            </a:r>
            <a:r>
              <a:rPr lang="tr-TR" dirty="0" err="1"/>
              <a:t>versions</a:t>
            </a:r>
            <a:r>
              <a:rPr lang="tr-TR" dirty="0"/>
              <a:t> (v5, v7), </a:t>
            </a:r>
            <a:r>
              <a:rPr lang="tr-TR" dirty="0" err="1"/>
              <a:t>making</a:t>
            </a:r>
            <a:r>
              <a:rPr lang="tr-TR" dirty="0"/>
              <a:t> it ideal </a:t>
            </a:r>
            <a:r>
              <a:rPr lang="tr-TR" dirty="0" err="1"/>
              <a:t>for</a:t>
            </a:r>
            <a:r>
              <a:rPr lang="tr-TR" dirty="0"/>
              <a:t> mobile </a:t>
            </a:r>
            <a:r>
              <a:rPr lang="tr-TR" dirty="0" err="1"/>
              <a:t>use</a:t>
            </a:r>
            <a:r>
              <a:rPr lang="tr-TR" dirty="0"/>
              <a:t>.</a:t>
            </a:r>
          </a:p>
        </p:txBody>
      </p:sp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C6D9DE2A-EF4D-BDA5-4425-C6579FF9A6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012274"/>
              </p:ext>
            </p:extLst>
          </p:nvPr>
        </p:nvGraphicFramePr>
        <p:xfrm>
          <a:off x="661329" y="3429000"/>
          <a:ext cx="10869342" cy="3402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9248">
                  <a:extLst>
                    <a:ext uri="{9D8B030D-6E8A-4147-A177-3AD203B41FA5}">
                      <a16:colId xmlns:a16="http://schemas.microsoft.com/office/drawing/2014/main" val="3324018203"/>
                    </a:ext>
                  </a:extLst>
                </a:gridCol>
                <a:gridCol w="2245423">
                  <a:extLst>
                    <a:ext uri="{9D8B030D-6E8A-4147-A177-3AD203B41FA5}">
                      <a16:colId xmlns:a16="http://schemas.microsoft.com/office/drawing/2014/main" val="1132217774"/>
                    </a:ext>
                  </a:extLst>
                </a:gridCol>
                <a:gridCol w="3258328">
                  <a:extLst>
                    <a:ext uri="{9D8B030D-6E8A-4147-A177-3AD203B41FA5}">
                      <a16:colId xmlns:a16="http://schemas.microsoft.com/office/drawing/2014/main" val="1407666171"/>
                    </a:ext>
                  </a:extLst>
                </a:gridCol>
                <a:gridCol w="2176343">
                  <a:extLst>
                    <a:ext uri="{9D8B030D-6E8A-4147-A177-3AD203B41FA5}">
                      <a16:colId xmlns:a16="http://schemas.microsoft.com/office/drawing/2014/main" val="1736050076"/>
                    </a:ext>
                  </a:extLst>
                </a:gridCol>
              </a:tblGrid>
              <a:tr h="690511">
                <a:tc>
                  <a:txBody>
                    <a:bodyPr/>
                    <a:lstStyle/>
                    <a:p>
                      <a:pPr algn="ctr"/>
                      <a:r>
                        <a:rPr lang="tr-TR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STUDY</a:t>
                      </a:r>
                      <a:endParaRPr lang="tr-TR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METHOD</a:t>
                      </a:r>
                      <a:endParaRPr lang="tr-TR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tr-TR" b="1" dirty="0">
                          <a:solidFill>
                            <a:schemeClr val="bg1"/>
                          </a:solidFill>
                          <a:effectLst/>
                        </a:rPr>
                        <a:t>OBJECT TYPE &amp; CLASS 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tr-TR" b="1" dirty="0">
                          <a:solidFill>
                            <a:schemeClr val="bg1"/>
                          </a:solidFill>
                          <a:effectLst/>
                        </a:rPr>
                        <a:t>REAL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859002"/>
                  </a:ext>
                </a:extLst>
              </a:tr>
              <a:tr h="459455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tr-TR" b="0" dirty="0" err="1">
                          <a:effectLst/>
                        </a:rPr>
                        <a:t>Qian</a:t>
                      </a:r>
                      <a:r>
                        <a:rPr lang="tr-TR" b="0" dirty="0">
                          <a:effectLst/>
                        </a:rPr>
                        <a:t> et al. (2020)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tr-TR" b="0" dirty="0" err="1">
                          <a:effectLst/>
                        </a:rPr>
                        <a:t>Faster</a:t>
                      </a:r>
                      <a:r>
                        <a:rPr lang="tr-TR" b="0" dirty="0">
                          <a:effectLst/>
                        </a:rPr>
                        <a:t> R-CNN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tr-TR" b="0" dirty="0" err="1">
                          <a:effectLst/>
                        </a:rPr>
                        <a:t>Aerospace</a:t>
                      </a:r>
                      <a:r>
                        <a:rPr lang="tr-TR" b="0" dirty="0">
                          <a:effectLst/>
                        </a:rPr>
                        <a:t> </a:t>
                      </a:r>
                      <a:r>
                        <a:rPr lang="tr-TR" b="0" dirty="0" err="1">
                          <a:effectLst/>
                        </a:rPr>
                        <a:t>Fasteners</a:t>
                      </a:r>
                      <a:r>
                        <a:rPr lang="tr-TR" b="0" dirty="0">
                          <a:effectLst/>
                        </a:rPr>
                        <a:t> (4 </a:t>
                      </a:r>
                      <a:r>
                        <a:rPr lang="tr-TR" b="0" dirty="0" err="1">
                          <a:effectLst/>
                        </a:rPr>
                        <a:t>Classes</a:t>
                      </a:r>
                      <a:r>
                        <a:rPr lang="tr-TR" b="0" dirty="0">
                          <a:effectLst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endParaRPr lang="tr-TR" b="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0053730"/>
                  </a:ext>
                </a:extLst>
              </a:tr>
              <a:tr h="690511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tr-TR" b="0" dirty="0" err="1">
                          <a:effectLst/>
                        </a:rPr>
                        <a:t>Li</a:t>
                      </a:r>
                      <a:r>
                        <a:rPr lang="tr-TR" b="0" dirty="0">
                          <a:effectLst/>
                        </a:rPr>
                        <a:t> et al. (2021)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YOLOv5</a:t>
                      </a:r>
                      <a:endParaRPr lang="tr-TR" b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800" b="0" dirty="0"/>
                        <a:t>5 (plastik, kağıt, ekmek, organik, yemek)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800" b="0" dirty="0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1404863"/>
                  </a:ext>
                </a:extLst>
              </a:tr>
              <a:tr h="690511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tr-TR" b="0" dirty="0">
                          <a:effectLst/>
                        </a:rPr>
                        <a:t>Chen &amp; Wang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YOLOv7</a:t>
                      </a:r>
                      <a:endParaRPr lang="tr-TR" b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tr-TR" b="0" dirty="0">
                          <a:effectLst/>
                        </a:rPr>
                        <a:t>Small </a:t>
                      </a:r>
                      <a:r>
                        <a:rPr lang="tr-TR" b="0" dirty="0" err="1">
                          <a:effectLst/>
                        </a:rPr>
                        <a:t>Screw</a:t>
                      </a:r>
                      <a:r>
                        <a:rPr lang="tr-TR" b="0" dirty="0">
                          <a:effectLst/>
                        </a:rPr>
                        <a:t> </a:t>
                      </a:r>
                      <a:r>
                        <a:rPr lang="tr-TR" b="0" dirty="0" err="1">
                          <a:effectLst/>
                        </a:rPr>
                        <a:t>Parts</a:t>
                      </a:r>
                      <a:r>
                        <a:rPr lang="tr-TR" b="0" dirty="0">
                          <a:effectLst/>
                        </a:rPr>
                        <a:t> (6 </a:t>
                      </a:r>
                      <a:r>
                        <a:rPr lang="tr-TR" b="0" dirty="0" err="1">
                          <a:effectLst/>
                        </a:rPr>
                        <a:t>Classes</a:t>
                      </a:r>
                      <a:r>
                        <a:rPr lang="tr-TR" b="0" dirty="0">
                          <a:effectLst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tr-TR" b="0" dirty="0">
                          <a:effectLst/>
                        </a:rPr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7543755"/>
                  </a:ext>
                </a:extLst>
              </a:tr>
              <a:tr h="690511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tr-TR" b="0" dirty="0" err="1">
                          <a:effectLst/>
                        </a:rPr>
                        <a:t>ScrewVision</a:t>
                      </a:r>
                      <a:endParaRPr lang="tr-TR" b="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tr-TR" b="0" dirty="0">
                          <a:effectLst/>
                        </a:rPr>
                        <a:t>YOLOv8 + ONNX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tr-TR" b="0" dirty="0" err="1">
                          <a:effectLst/>
                        </a:rPr>
                        <a:t>Standard</a:t>
                      </a:r>
                      <a:r>
                        <a:rPr lang="tr-TR" b="0" dirty="0">
                          <a:effectLst/>
                        </a:rPr>
                        <a:t> </a:t>
                      </a:r>
                      <a:r>
                        <a:rPr lang="tr-TR" b="0" dirty="0" err="1">
                          <a:effectLst/>
                        </a:rPr>
                        <a:t>Screw</a:t>
                      </a:r>
                      <a:r>
                        <a:rPr lang="tr-TR" b="0" dirty="0">
                          <a:effectLst/>
                        </a:rPr>
                        <a:t> </a:t>
                      </a:r>
                      <a:r>
                        <a:rPr lang="tr-TR" b="0" dirty="0" err="1">
                          <a:effectLst/>
                        </a:rPr>
                        <a:t>Drives</a:t>
                      </a:r>
                      <a:r>
                        <a:rPr lang="tr-TR" b="0" dirty="0">
                          <a:effectLst/>
                        </a:rPr>
                        <a:t> (6 </a:t>
                      </a:r>
                      <a:r>
                        <a:rPr lang="tr-TR" b="0" dirty="0" err="1">
                          <a:effectLst/>
                        </a:rPr>
                        <a:t>Classes</a:t>
                      </a:r>
                      <a:r>
                        <a:rPr lang="tr-TR" b="0" dirty="0">
                          <a:effectLst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tr-TR" b="0" dirty="0">
                          <a:effectLst/>
                        </a:rPr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5787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1985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EF43A06-7E14-2115-B03C-F46164DFB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b="1" dirty="0" err="1">
                <a:latin typeface=""/>
              </a:rPr>
              <a:t>Methodology</a:t>
            </a:r>
            <a:endParaRPr lang="tr-TR" b="1" dirty="0">
              <a:latin typeface="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2F2EAF7-6784-907D-9C6F-0F3BF27D9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8"/>
            <a:ext cx="4665061" cy="51673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b="1" dirty="0" err="1"/>
              <a:t>Algorithms</a:t>
            </a:r>
            <a:r>
              <a:rPr lang="tr-TR" b="1" dirty="0"/>
              <a:t> &amp; </a:t>
            </a:r>
            <a:r>
              <a:rPr lang="tr-TR" b="1" dirty="0" err="1"/>
              <a:t>Tech</a:t>
            </a:r>
            <a:r>
              <a:rPr lang="tr-TR" b="1" dirty="0"/>
              <a:t> </a:t>
            </a:r>
            <a:r>
              <a:rPr lang="tr-TR" b="1" dirty="0" err="1"/>
              <a:t>Stack</a:t>
            </a:r>
            <a:endParaRPr lang="tr-TR" b="1" dirty="0"/>
          </a:p>
          <a:p>
            <a:pPr marL="0" indent="0">
              <a:buNone/>
            </a:pPr>
            <a:r>
              <a:rPr lang="tr-TR" b="1" dirty="0" err="1"/>
              <a:t>Core</a:t>
            </a:r>
            <a:r>
              <a:rPr lang="tr-TR" b="1" dirty="0"/>
              <a:t> Technologies:</a:t>
            </a:r>
            <a:endParaRPr lang="tr-TR" dirty="0"/>
          </a:p>
          <a:p>
            <a:r>
              <a:rPr lang="tr-TR" b="1" dirty="0"/>
              <a:t>YOLOv8m:</a:t>
            </a:r>
            <a:r>
              <a:rPr lang="tr-TR" dirty="0"/>
              <a:t> Object </a:t>
            </a:r>
            <a:r>
              <a:rPr lang="tr-TR" dirty="0" err="1"/>
              <a:t>Detection</a:t>
            </a:r>
            <a:r>
              <a:rPr lang="tr-TR" dirty="0"/>
              <a:t> (57 </a:t>
            </a:r>
            <a:r>
              <a:rPr lang="tr-TR" dirty="0" err="1"/>
              <a:t>Epochs</a:t>
            </a:r>
            <a:r>
              <a:rPr lang="tr-TR" dirty="0"/>
              <a:t> on </a:t>
            </a:r>
            <a:r>
              <a:rPr lang="tr-TR" dirty="0" err="1"/>
              <a:t>VSCode</a:t>
            </a:r>
            <a:r>
              <a:rPr lang="tr-TR" dirty="0"/>
              <a:t>).</a:t>
            </a:r>
          </a:p>
          <a:p>
            <a:r>
              <a:rPr lang="tr-TR" b="1" dirty="0" err="1"/>
              <a:t>FastAPI</a:t>
            </a:r>
            <a:r>
              <a:rPr lang="tr-TR" b="1" dirty="0"/>
              <a:t>:</a:t>
            </a:r>
            <a:r>
              <a:rPr lang="tr-TR" dirty="0"/>
              <a:t> High-</a:t>
            </a:r>
            <a:r>
              <a:rPr lang="tr-TR" dirty="0" err="1"/>
              <a:t>performance</a:t>
            </a:r>
            <a:r>
              <a:rPr lang="tr-TR" dirty="0"/>
              <a:t> </a:t>
            </a:r>
            <a:r>
              <a:rPr lang="tr-TR" dirty="0" err="1"/>
              <a:t>Backend</a:t>
            </a:r>
            <a:r>
              <a:rPr lang="tr-TR" dirty="0"/>
              <a:t>.</a:t>
            </a:r>
          </a:p>
          <a:p>
            <a:r>
              <a:rPr lang="tr-TR" b="1" dirty="0" err="1"/>
              <a:t>React</a:t>
            </a:r>
            <a:r>
              <a:rPr lang="tr-TR" b="1" dirty="0"/>
              <a:t> </a:t>
            </a:r>
            <a:r>
              <a:rPr lang="tr-TR" b="1" dirty="0" err="1"/>
              <a:t>Native</a:t>
            </a:r>
            <a:r>
              <a:rPr lang="tr-TR" b="1" dirty="0"/>
              <a:t>:</a:t>
            </a:r>
            <a:r>
              <a:rPr lang="tr-TR" dirty="0"/>
              <a:t> Cross-platform Mobile </a:t>
            </a:r>
            <a:r>
              <a:rPr lang="tr-TR" dirty="0" err="1"/>
              <a:t>App</a:t>
            </a:r>
            <a:r>
              <a:rPr lang="tr-TR" dirty="0"/>
              <a:t>.</a:t>
            </a:r>
          </a:p>
          <a:p>
            <a:pPr marL="0" indent="0">
              <a:buNone/>
            </a:pPr>
            <a:r>
              <a:rPr lang="tr-TR" b="1" dirty="0" err="1"/>
              <a:t>System</a:t>
            </a:r>
            <a:r>
              <a:rPr lang="tr-TR" b="1" dirty="0"/>
              <a:t> </a:t>
            </a:r>
            <a:r>
              <a:rPr lang="tr-TR" b="1" dirty="0" err="1"/>
              <a:t>Flow</a:t>
            </a:r>
            <a:r>
              <a:rPr lang="tr-TR" b="1" dirty="0"/>
              <a:t>:</a:t>
            </a:r>
            <a:endParaRPr lang="tr-TR" dirty="0"/>
          </a:p>
          <a:p>
            <a:r>
              <a:rPr lang="tr-TR" b="1" dirty="0" err="1"/>
              <a:t>Camera</a:t>
            </a:r>
            <a:r>
              <a:rPr lang="tr-TR" dirty="0"/>
              <a:t> → </a:t>
            </a:r>
            <a:r>
              <a:rPr lang="tr-TR" b="1" dirty="0" err="1"/>
              <a:t>Preprocessing</a:t>
            </a:r>
            <a:r>
              <a:rPr lang="tr-TR" dirty="0"/>
              <a:t> → </a:t>
            </a:r>
            <a:r>
              <a:rPr lang="tr-TR" b="1" dirty="0"/>
              <a:t>ONNX Model</a:t>
            </a:r>
            <a:r>
              <a:rPr lang="tr-TR" dirty="0"/>
              <a:t> → </a:t>
            </a:r>
            <a:r>
              <a:rPr lang="tr-TR" b="1" dirty="0" err="1"/>
              <a:t>Result</a:t>
            </a:r>
            <a:endParaRPr lang="tr-TR" dirty="0"/>
          </a:p>
          <a:p>
            <a:endParaRPr lang="tr-TR" dirty="0"/>
          </a:p>
        </p:txBody>
      </p:sp>
      <p:pic>
        <p:nvPicPr>
          <p:cNvPr id="6" name="Resim 5" descr="ekran görüntüsü, metin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6C963C3-1E1E-839D-D4B7-3BE34FAF5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060" y="1690688"/>
            <a:ext cx="7526939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328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B913CBD-1712-6C31-92FC-B3BF7BF4E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453"/>
            <a:ext cx="10515600" cy="1325563"/>
          </a:xfrm>
        </p:spPr>
        <p:txBody>
          <a:bodyPr/>
          <a:lstStyle/>
          <a:p>
            <a:pPr algn="ctr"/>
            <a:r>
              <a:rPr lang="tr-TR" b="1" dirty="0" err="1">
                <a:latin typeface=""/>
              </a:rPr>
              <a:t>Methodology</a:t>
            </a:r>
            <a:endParaRPr lang="tr-TR" dirty="0">
              <a:latin typeface=""/>
              <a:cs typeface="Segoe UI" panose="020B0502040204020203" pitchFamily="34" charset="0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02B39CB-7CC7-FEC8-A259-4B288A228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890" y="1690689"/>
            <a:ext cx="3712991" cy="51673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b="1" dirty="0" err="1"/>
              <a:t>Custom</a:t>
            </a:r>
            <a:r>
              <a:rPr lang="tr-TR" b="1" dirty="0"/>
              <a:t> </a:t>
            </a:r>
            <a:r>
              <a:rPr lang="tr-TR" b="1" dirty="0" err="1"/>
              <a:t>Dataset</a:t>
            </a:r>
            <a:r>
              <a:rPr lang="tr-TR" b="1" dirty="0"/>
              <a:t>:</a:t>
            </a:r>
            <a:r>
              <a:rPr lang="tr-TR" dirty="0"/>
              <a:t> </a:t>
            </a:r>
          </a:p>
          <a:p>
            <a:r>
              <a:rPr lang="tr-TR" dirty="0" err="1"/>
              <a:t>We</a:t>
            </a:r>
            <a:r>
              <a:rPr lang="tr-TR" dirty="0"/>
              <a:t> </a:t>
            </a:r>
            <a:r>
              <a:rPr lang="tr-TR" dirty="0" err="1"/>
              <a:t>personally</a:t>
            </a:r>
            <a:r>
              <a:rPr lang="tr-TR" dirty="0"/>
              <a:t> </a:t>
            </a:r>
            <a:r>
              <a:rPr lang="tr-TR" dirty="0" err="1"/>
              <a:t>collected</a:t>
            </a:r>
            <a:r>
              <a:rPr lang="tr-TR" dirty="0"/>
              <a:t> </a:t>
            </a:r>
            <a:r>
              <a:rPr lang="tr-TR" dirty="0" err="1"/>
              <a:t>and</a:t>
            </a:r>
            <a:r>
              <a:rPr lang="tr-TR" dirty="0"/>
              <a:t> </a:t>
            </a:r>
            <a:r>
              <a:rPr lang="tr-TR" dirty="0" err="1"/>
              <a:t>manually</a:t>
            </a:r>
            <a:r>
              <a:rPr lang="tr-TR" dirty="0"/>
              <a:t> </a:t>
            </a:r>
            <a:r>
              <a:rPr lang="tr-TR" dirty="0" err="1"/>
              <a:t>labeled</a:t>
            </a:r>
            <a:r>
              <a:rPr lang="tr-TR" dirty="0"/>
              <a:t> 500+ </a:t>
            </a:r>
            <a:r>
              <a:rPr lang="tr-TR" dirty="0" err="1"/>
              <a:t>photo</a:t>
            </a:r>
            <a:r>
              <a:rPr lang="tr-TR" dirty="0"/>
              <a:t>.</a:t>
            </a:r>
          </a:p>
          <a:p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have</a:t>
            </a:r>
            <a:r>
              <a:rPr lang="tr-TR" dirty="0"/>
              <a:t> 7352 total </a:t>
            </a:r>
            <a:r>
              <a:rPr lang="tr-TR" dirty="0" err="1"/>
              <a:t>photo</a:t>
            </a:r>
            <a:r>
              <a:rPr lang="tr-TR" dirty="0"/>
              <a:t>(</a:t>
            </a:r>
            <a:r>
              <a:rPr lang="tr-TR" dirty="0" err="1"/>
              <a:t>inclde</a:t>
            </a:r>
            <a:r>
              <a:rPr lang="tr-TR" dirty="0"/>
              <a:t> data </a:t>
            </a:r>
            <a:r>
              <a:rPr lang="tr-TR" dirty="0" err="1"/>
              <a:t>agumentation</a:t>
            </a:r>
            <a:r>
              <a:rPr lang="tr-TR" dirty="0"/>
              <a:t>)</a:t>
            </a:r>
          </a:p>
          <a:p>
            <a:pPr marL="0" indent="0">
              <a:buNone/>
            </a:pPr>
            <a:r>
              <a:rPr lang="tr-TR" b="1" dirty="0" err="1"/>
              <a:t>Preprocessing</a:t>
            </a:r>
            <a:r>
              <a:rPr lang="tr-TR" b="1" dirty="0"/>
              <a:t>:</a:t>
            </a:r>
            <a:r>
              <a:rPr lang="tr-TR" dirty="0"/>
              <a:t> </a:t>
            </a:r>
          </a:p>
          <a:p>
            <a:r>
              <a:rPr lang="tr-TR" dirty="0" err="1"/>
              <a:t>All</a:t>
            </a:r>
            <a:r>
              <a:rPr lang="tr-TR" dirty="0"/>
              <a:t> </a:t>
            </a:r>
            <a:r>
              <a:rPr lang="tr-TR" dirty="0" err="1"/>
              <a:t>images</a:t>
            </a:r>
            <a:r>
              <a:rPr lang="tr-TR" dirty="0"/>
              <a:t> </a:t>
            </a:r>
            <a:r>
              <a:rPr lang="tr-TR" dirty="0" err="1"/>
              <a:t>resized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640x640 </a:t>
            </a:r>
            <a:r>
              <a:rPr lang="tr-TR" dirty="0" err="1"/>
              <a:t>pixels</a:t>
            </a:r>
            <a:r>
              <a:rPr lang="tr-TR" dirty="0"/>
              <a:t>.</a:t>
            </a:r>
          </a:p>
          <a:p>
            <a:pPr marL="0" indent="0">
              <a:buNone/>
            </a:pPr>
            <a:r>
              <a:rPr lang="tr-TR" b="1" dirty="0" err="1"/>
              <a:t>Augmentation</a:t>
            </a:r>
            <a:r>
              <a:rPr lang="tr-TR" b="1" dirty="0"/>
              <a:t>:</a:t>
            </a:r>
            <a:r>
              <a:rPr lang="tr-TR" dirty="0"/>
              <a:t> </a:t>
            </a:r>
          </a:p>
          <a:p>
            <a:r>
              <a:rPr lang="tr-TR" dirty="0" err="1"/>
              <a:t>Applied</a:t>
            </a:r>
            <a:r>
              <a:rPr lang="tr-TR" dirty="0"/>
              <a:t> </a:t>
            </a:r>
            <a:r>
              <a:rPr lang="tr-TR" dirty="0" err="1"/>
              <a:t>Flip</a:t>
            </a:r>
            <a:r>
              <a:rPr lang="tr-TR" dirty="0"/>
              <a:t>, </a:t>
            </a:r>
            <a:r>
              <a:rPr lang="tr-TR" dirty="0" err="1"/>
              <a:t>Rotation</a:t>
            </a:r>
            <a:r>
              <a:rPr lang="tr-TR" dirty="0"/>
              <a:t> (±15°).</a:t>
            </a:r>
          </a:p>
        </p:txBody>
      </p:sp>
      <p:pic>
        <p:nvPicPr>
          <p:cNvPr id="5" name="Resim 4" descr="metin, ekran görüntüsü, web sitesi, web sayfas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6B41E43-9C64-4B33-A3B6-86006E173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560" y="1305923"/>
            <a:ext cx="7254240" cy="534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671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9E3F267-C7BC-C5FA-FF16-9BFE0B984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98954"/>
          </a:xfrm>
        </p:spPr>
        <p:txBody>
          <a:bodyPr/>
          <a:lstStyle/>
          <a:p>
            <a:pPr algn="ctr"/>
            <a:r>
              <a:rPr lang="tr-TR" b="1" dirty="0" err="1">
                <a:latin typeface=""/>
              </a:rPr>
              <a:t>Experimental</a:t>
            </a:r>
            <a:r>
              <a:rPr lang="tr-TR" b="1" dirty="0">
                <a:latin typeface=""/>
              </a:rPr>
              <a:t> </a:t>
            </a:r>
            <a:r>
              <a:rPr lang="tr-TR" b="1" dirty="0" err="1">
                <a:latin typeface=""/>
              </a:rPr>
              <a:t>Results</a:t>
            </a:r>
            <a:endParaRPr lang="tr-TR" b="1" dirty="0">
              <a:latin typeface="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97ADA7C-8FE4-36B8-E068-0FFE1BCA2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070" y="1331963"/>
            <a:ext cx="3984182" cy="539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>
                <a:latin typeface="Segoe UI" panose="020B0502040204020203" pitchFamily="34" charset="0"/>
                <a:cs typeface="Segoe UI" panose="020B0502040204020203" pitchFamily="34" charset="0"/>
              </a:rPr>
              <a:t>Model </a:t>
            </a:r>
            <a:r>
              <a:rPr lang="tr-TR" b="1" dirty="0" err="1">
                <a:latin typeface="Segoe UI" panose="020B0502040204020203" pitchFamily="34" charset="0"/>
                <a:cs typeface="Segoe UI" panose="020B0502040204020203" pitchFamily="34" charset="0"/>
              </a:rPr>
              <a:t>Performance</a:t>
            </a:r>
            <a:endParaRPr lang="tr-TR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tr-TR" dirty="0"/>
          </a:p>
        </p:txBody>
      </p:sp>
      <p:graphicFrame>
        <p:nvGraphicFramePr>
          <p:cNvPr id="13" name="Tablo 12">
            <a:extLst>
              <a:ext uri="{FF2B5EF4-FFF2-40B4-BE49-F238E27FC236}">
                <a16:creationId xmlns:a16="http://schemas.microsoft.com/office/drawing/2014/main" id="{267F6843-C397-2F5C-8CDE-CA931DB224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505357"/>
              </p:ext>
            </p:extLst>
          </p:nvPr>
        </p:nvGraphicFramePr>
        <p:xfrm>
          <a:off x="16318" y="1871004"/>
          <a:ext cx="3984182" cy="462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2091">
                  <a:extLst>
                    <a:ext uri="{9D8B030D-6E8A-4147-A177-3AD203B41FA5}">
                      <a16:colId xmlns:a16="http://schemas.microsoft.com/office/drawing/2014/main" val="3204280347"/>
                    </a:ext>
                  </a:extLst>
                </a:gridCol>
                <a:gridCol w="1992091">
                  <a:extLst>
                    <a:ext uri="{9D8B030D-6E8A-4147-A177-3AD203B41FA5}">
                      <a16:colId xmlns:a16="http://schemas.microsoft.com/office/drawing/2014/main" val="3879603643"/>
                    </a:ext>
                  </a:extLst>
                </a:gridCol>
              </a:tblGrid>
              <a:tr h="430993">
                <a:tc>
                  <a:txBody>
                    <a:bodyPr/>
                    <a:lstStyle/>
                    <a:p>
                      <a:pPr algn="ctr"/>
                      <a:r>
                        <a:rPr lang="tr-TR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METRIC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tr-T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7842912"/>
                  </a:ext>
                </a:extLst>
              </a:tr>
              <a:tr h="430993"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Total </a:t>
                      </a:r>
                      <a:r>
                        <a:rPr lang="tr-TR" dirty="0" err="1"/>
                        <a:t>Epochs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</a:t>
                      </a:r>
                      <a:endParaRPr lang="tr-T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7226433"/>
                  </a:ext>
                </a:extLst>
              </a:tr>
              <a:tr h="430993"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Best </a:t>
                      </a:r>
                      <a:r>
                        <a:rPr lang="tr-TR" dirty="0" err="1"/>
                        <a:t>Epoch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tr-T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800251"/>
                  </a:ext>
                </a:extLst>
              </a:tr>
              <a:tr h="430993"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  <a:endParaRPr lang="tr-T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9654204"/>
                  </a:ext>
                </a:extLst>
              </a:tr>
              <a:tr h="430993">
                <a:tc>
                  <a:txBody>
                    <a:bodyPr/>
                    <a:lstStyle/>
                    <a:p>
                      <a:pPr algn="ctr"/>
                      <a:r>
                        <a:rPr lang="tr-TR" dirty="0" err="1"/>
                        <a:t>Recall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  <a:endParaRPr lang="tr-T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5537907"/>
                  </a:ext>
                </a:extLst>
              </a:tr>
              <a:tr h="430993"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mAP@0.5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0.983</a:t>
                      </a:r>
                      <a:endParaRPr lang="tr-T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1249504"/>
                  </a:ext>
                </a:extLst>
              </a:tr>
              <a:tr h="430993"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mAP@0.5:0.95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824</a:t>
                      </a:r>
                      <a:endParaRPr lang="tr-T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1683050"/>
                  </a:ext>
                </a:extLst>
              </a:tr>
              <a:tr h="430993"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Class </a:t>
                      </a:r>
                      <a:r>
                        <a:rPr lang="tr-TR" dirty="0" err="1"/>
                        <a:t>Count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9435331"/>
                  </a:ext>
                </a:extLst>
              </a:tr>
              <a:tr h="742935">
                <a:tc>
                  <a:txBody>
                    <a:bodyPr/>
                    <a:lstStyle/>
                    <a:p>
                      <a:pPr algn="ctr"/>
                      <a:r>
                        <a:rPr lang="tr-TR" dirty="0"/>
                        <a:t>Model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tr-TR" dirty="0">
                          <a:effectLst/>
                        </a:rPr>
                        <a:t>YOLOv8m (ONNX) (~98MB)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6239350"/>
                  </a:ext>
                </a:extLst>
              </a:tr>
              <a:tr h="430993">
                <a:tc>
                  <a:txBody>
                    <a:bodyPr/>
                    <a:lstStyle/>
                    <a:p>
                      <a:pPr algn="ctr"/>
                      <a:r>
                        <a:rPr lang="tr-TR" dirty="0" err="1"/>
                        <a:t>Parameters</a:t>
                      </a:r>
                      <a:endParaRPr lang="tr-T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tr-TR" dirty="0">
                          <a:effectLst/>
                        </a:rPr>
                        <a:t>≈25.9M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696857"/>
                  </a:ext>
                </a:extLst>
              </a:tr>
            </a:tbl>
          </a:graphicData>
        </a:graphic>
      </p:graphicFrame>
      <p:pic>
        <p:nvPicPr>
          <p:cNvPr id="5" name="Resim 4" descr="metin, yazı tipi, doküman, belge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3984919-2B2A-CF9E-1851-BD77A8D0C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019" y="1949161"/>
            <a:ext cx="7712650" cy="417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564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2A0A151-B9F3-457D-F717-3110D156D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145" y="-56380"/>
            <a:ext cx="10515600" cy="1151849"/>
          </a:xfrm>
        </p:spPr>
        <p:txBody>
          <a:bodyPr/>
          <a:lstStyle/>
          <a:p>
            <a:pPr algn="ctr"/>
            <a:r>
              <a:rPr lang="tr-TR" b="1" dirty="0" err="1">
                <a:latin typeface=""/>
              </a:rPr>
              <a:t>Experimental</a:t>
            </a:r>
            <a:r>
              <a:rPr lang="tr-TR" b="1" dirty="0">
                <a:latin typeface=""/>
              </a:rPr>
              <a:t> </a:t>
            </a:r>
            <a:r>
              <a:rPr lang="tr-TR" b="1" dirty="0" err="1">
                <a:latin typeface=""/>
              </a:rPr>
              <a:t>Results</a:t>
            </a:r>
            <a:endParaRPr lang="tr-TR" b="1" dirty="0">
              <a:latin typeface=""/>
            </a:endParaRPr>
          </a:p>
        </p:txBody>
      </p:sp>
      <p:pic>
        <p:nvPicPr>
          <p:cNvPr id="4" name="Resim 3" descr="metin, ekran görüntüsü, diyagram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AC6AD03-4F5F-03AD-8062-A0A9266AF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982" y="981940"/>
            <a:ext cx="7142019" cy="5356515"/>
          </a:xfrm>
          <a:prstGeom prst="rect">
            <a:avLst/>
          </a:prstGeom>
        </p:spPr>
      </p:pic>
      <p:pic>
        <p:nvPicPr>
          <p:cNvPr id="7" name="Resim 6" descr="metin, diyagram, çizgi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D966E82-3A84-32D2-66D7-5C6FA3547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74" y="671756"/>
            <a:ext cx="4866208" cy="3244138"/>
          </a:xfrm>
          <a:prstGeom prst="rect">
            <a:avLst/>
          </a:prstGeom>
        </p:spPr>
      </p:pic>
      <p:pic>
        <p:nvPicPr>
          <p:cNvPr id="5" name="Resim 4" descr="metin, ekran görüntüsü, diyagram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ACD9377-3C0F-6605-65B2-1C7C286C59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773" y="3702624"/>
            <a:ext cx="4866207" cy="315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94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DC90A39-AF32-05AC-D192-BC3682FBF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b="1" dirty="0">
                <a:latin typeface=""/>
              </a:rPr>
              <a:t>Mobile </a:t>
            </a:r>
            <a:r>
              <a:rPr lang="tr-TR" b="1" dirty="0" err="1">
                <a:latin typeface=""/>
              </a:rPr>
              <a:t>App</a:t>
            </a:r>
            <a:r>
              <a:rPr lang="tr-TR" b="1" dirty="0">
                <a:latin typeface=""/>
              </a:rPr>
              <a:t> </a:t>
            </a:r>
            <a:r>
              <a:rPr lang="tr-TR" b="1" dirty="0" err="1">
                <a:latin typeface=""/>
              </a:rPr>
              <a:t>Features</a:t>
            </a:r>
            <a:r>
              <a:rPr lang="tr-TR" b="1" dirty="0">
                <a:latin typeface=""/>
              </a:rPr>
              <a:t> 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8F4F3CF-3047-2A7C-96A0-597326E22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92245"/>
            <a:ext cx="10515600" cy="4200629"/>
          </a:xfrm>
        </p:spPr>
        <p:txBody>
          <a:bodyPr anchor="ctr">
            <a:normAutofit fontScale="85000" lnSpcReduction="20000"/>
          </a:bodyPr>
          <a:lstStyle/>
          <a:p>
            <a:r>
              <a:rPr lang="tr-TR" b="1" dirty="0"/>
              <a:t>Real-Time Object </a:t>
            </a:r>
            <a:r>
              <a:rPr lang="tr-TR" b="1" dirty="0" err="1"/>
              <a:t>Detection</a:t>
            </a:r>
            <a:r>
              <a:rPr lang="tr-TR" b="1" dirty="0"/>
              <a:t>:</a:t>
            </a:r>
            <a:r>
              <a:rPr lang="tr-TR" dirty="0"/>
              <a:t> </a:t>
            </a:r>
            <a:r>
              <a:rPr lang="tr-TR" dirty="0" err="1"/>
              <a:t>Instant</a:t>
            </a:r>
            <a:r>
              <a:rPr lang="tr-TR" dirty="0"/>
              <a:t> </a:t>
            </a:r>
            <a:r>
              <a:rPr lang="tr-TR" dirty="0" err="1"/>
              <a:t>analysis</a:t>
            </a:r>
            <a:r>
              <a:rPr lang="tr-TR" dirty="0"/>
              <a:t> of </a:t>
            </a:r>
            <a:r>
              <a:rPr lang="tr-TR" dirty="0" err="1"/>
              <a:t>fasteners</a:t>
            </a:r>
            <a:r>
              <a:rPr lang="tr-TR" dirty="0"/>
              <a:t> </a:t>
            </a:r>
            <a:r>
              <a:rPr lang="tr-TR" dirty="0" err="1"/>
              <a:t>directly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camera</a:t>
            </a:r>
            <a:r>
              <a:rPr lang="tr-TR" dirty="0"/>
              <a:t> </a:t>
            </a:r>
            <a:r>
              <a:rPr lang="tr-TR" dirty="0" err="1"/>
              <a:t>feed</a:t>
            </a:r>
            <a:r>
              <a:rPr lang="tr-TR" dirty="0"/>
              <a:t>.</a:t>
            </a:r>
          </a:p>
          <a:p>
            <a:r>
              <a:rPr lang="tr-TR" b="1" dirty="0"/>
              <a:t>Gallery Image </a:t>
            </a:r>
            <a:r>
              <a:rPr lang="tr-TR" b="1" dirty="0" err="1"/>
              <a:t>Classification</a:t>
            </a:r>
            <a:r>
              <a:rPr lang="tr-TR" b="1" dirty="0"/>
              <a:t>:</a:t>
            </a:r>
            <a:r>
              <a:rPr lang="tr-TR" dirty="0"/>
              <a:t> </a:t>
            </a:r>
            <a:r>
              <a:rPr lang="tr-TR" dirty="0" err="1"/>
              <a:t>Capability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process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classify</a:t>
            </a:r>
            <a:r>
              <a:rPr lang="tr-TR" dirty="0"/>
              <a:t> </a:t>
            </a:r>
            <a:r>
              <a:rPr lang="tr-TR" dirty="0" err="1"/>
              <a:t>pre-existing</a:t>
            </a:r>
            <a:r>
              <a:rPr lang="tr-TR" dirty="0"/>
              <a:t> </a:t>
            </a:r>
            <a:r>
              <a:rPr lang="tr-TR" dirty="0" err="1"/>
              <a:t>photos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device</a:t>
            </a:r>
            <a:r>
              <a:rPr lang="tr-TR" dirty="0"/>
              <a:t> </a:t>
            </a:r>
            <a:r>
              <a:rPr lang="tr-TR" dirty="0" err="1"/>
              <a:t>gallery</a:t>
            </a:r>
            <a:r>
              <a:rPr lang="tr-TR" dirty="0"/>
              <a:t>.</a:t>
            </a:r>
          </a:p>
          <a:p>
            <a:r>
              <a:rPr lang="tr-TR" b="1" dirty="0"/>
              <a:t>Visual Feedback:</a:t>
            </a:r>
            <a:r>
              <a:rPr lang="tr-TR" dirty="0"/>
              <a:t> </a:t>
            </a:r>
            <a:r>
              <a:rPr lang="tr-TR" dirty="0" err="1"/>
              <a:t>Detected</a:t>
            </a:r>
            <a:r>
              <a:rPr lang="tr-TR" dirty="0"/>
              <a:t> </a:t>
            </a:r>
            <a:r>
              <a:rPr lang="tr-TR" dirty="0" err="1"/>
              <a:t>screws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highlighted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color-coded</a:t>
            </a:r>
            <a:r>
              <a:rPr lang="tr-TR" dirty="0"/>
              <a:t> </a:t>
            </a:r>
            <a:r>
              <a:rPr lang="tr-TR" dirty="0" err="1"/>
              <a:t>bounding</a:t>
            </a:r>
            <a:r>
              <a:rPr lang="tr-TR" dirty="0"/>
              <a:t> </a:t>
            </a:r>
            <a:r>
              <a:rPr lang="tr-TR" dirty="0" err="1"/>
              <a:t>boxes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easy</a:t>
            </a:r>
            <a:r>
              <a:rPr lang="tr-TR" dirty="0"/>
              <a:t> </a:t>
            </a:r>
            <a:r>
              <a:rPr lang="tr-TR" dirty="0" err="1"/>
              <a:t>identification</a:t>
            </a:r>
            <a:r>
              <a:rPr lang="tr-TR" dirty="0"/>
              <a:t>.</a:t>
            </a:r>
          </a:p>
          <a:p>
            <a:r>
              <a:rPr lang="tr-TR" b="1" dirty="0" err="1"/>
              <a:t>Confidence</a:t>
            </a:r>
            <a:r>
              <a:rPr lang="tr-TR" b="1" dirty="0"/>
              <a:t> </a:t>
            </a:r>
            <a:r>
              <a:rPr lang="tr-TR" b="1" dirty="0" err="1"/>
              <a:t>Scoring</a:t>
            </a:r>
            <a:r>
              <a:rPr lang="tr-TR" b="1" dirty="0"/>
              <a:t>:</a:t>
            </a:r>
            <a:r>
              <a:rPr lang="tr-TR" dirty="0"/>
              <a:t> Displays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AI's</a:t>
            </a:r>
            <a:r>
              <a:rPr lang="tr-TR" dirty="0"/>
              <a:t> </a:t>
            </a:r>
            <a:r>
              <a:rPr lang="tr-TR" dirty="0" err="1"/>
              <a:t>certainty</a:t>
            </a:r>
            <a:r>
              <a:rPr lang="tr-TR" dirty="0"/>
              <a:t> </a:t>
            </a:r>
            <a:r>
              <a:rPr lang="tr-TR" dirty="0" err="1"/>
              <a:t>percentage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each</a:t>
            </a:r>
            <a:r>
              <a:rPr lang="tr-TR" dirty="0"/>
              <a:t> </a:t>
            </a:r>
            <a:r>
              <a:rPr lang="tr-TR" dirty="0" err="1"/>
              <a:t>prediction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ensure</a:t>
            </a:r>
            <a:r>
              <a:rPr lang="tr-TR" dirty="0"/>
              <a:t> </a:t>
            </a:r>
            <a:r>
              <a:rPr lang="tr-TR" dirty="0" err="1"/>
              <a:t>reliability</a:t>
            </a:r>
            <a:r>
              <a:rPr lang="tr-TR" dirty="0"/>
              <a:t>.</a:t>
            </a:r>
          </a:p>
          <a:p>
            <a:r>
              <a:rPr lang="tr-TR" b="1" dirty="0"/>
              <a:t>High-</a:t>
            </a:r>
            <a:r>
              <a:rPr lang="tr-TR" b="1" dirty="0" err="1"/>
              <a:t>Performance</a:t>
            </a:r>
            <a:r>
              <a:rPr lang="tr-TR" b="1" dirty="0"/>
              <a:t> </a:t>
            </a:r>
            <a:r>
              <a:rPr lang="tr-TR" b="1" dirty="0" err="1"/>
              <a:t>Inference</a:t>
            </a:r>
            <a:r>
              <a:rPr lang="tr-TR" b="1" dirty="0"/>
              <a:t>:</a:t>
            </a:r>
            <a:r>
              <a:rPr lang="tr-TR" dirty="0"/>
              <a:t> Powered </a:t>
            </a:r>
            <a:r>
              <a:rPr lang="tr-TR" dirty="0" err="1"/>
              <a:t>by</a:t>
            </a:r>
            <a:r>
              <a:rPr lang="tr-TR" dirty="0"/>
              <a:t> </a:t>
            </a:r>
            <a:r>
              <a:rPr lang="tr-TR" b="1" dirty="0"/>
              <a:t>ONNX Runtime</a:t>
            </a:r>
            <a:r>
              <a:rPr lang="tr-TR" dirty="0"/>
              <a:t> 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low-latency</a:t>
            </a:r>
            <a:r>
              <a:rPr lang="tr-TR" dirty="0"/>
              <a:t> </a:t>
            </a:r>
            <a:r>
              <a:rPr lang="tr-TR" dirty="0" err="1"/>
              <a:t>detection</a:t>
            </a:r>
            <a:r>
              <a:rPr lang="tr-TR" dirty="0"/>
              <a:t> on mobile hardware.</a:t>
            </a:r>
          </a:p>
          <a:p>
            <a:r>
              <a:rPr lang="tr-TR" b="1" dirty="0"/>
              <a:t>Professional UI/UX:</a:t>
            </a:r>
            <a:r>
              <a:rPr lang="tr-TR" dirty="0"/>
              <a:t> A </a:t>
            </a:r>
            <a:r>
              <a:rPr lang="tr-TR" dirty="0" err="1"/>
              <a:t>clean</a:t>
            </a:r>
            <a:r>
              <a:rPr lang="tr-TR" dirty="0"/>
              <a:t>, </a:t>
            </a:r>
            <a:r>
              <a:rPr lang="tr-TR" dirty="0" err="1"/>
              <a:t>intuitive</a:t>
            </a:r>
            <a:r>
              <a:rPr lang="tr-TR" dirty="0"/>
              <a:t>, </a:t>
            </a:r>
            <a:r>
              <a:rPr lang="tr-TR" dirty="0" err="1"/>
              <a:t>and</a:t>
            </a:r>
            <a:r>
              <a:rPr lang="tr-TR" dirty="0"/>
              <a:t> modern </a:t>
            </a:r>
            <a:r>
              <a:rPr lang="tr-TR" dirty="0" err="1"/>
              <a:t>interface</a:t>
            </a:r>
            <a:r>
              <a:rPr lang="tr-TR" dirty="0"/>
              <a:t> </a:t>
            </a:r>
            <a:r>
              <a:rPr lang="tr-TR" dirty="0" err="1"/>
              <a:t>designed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ease</a:t>
            </a:r>
            <a:r>
              <a:rPr lang="tr-TR" dirty="0"/>
              <a:t> of </a:t>
            </a:r>
            <a:r>
              <a:rPr lang="tr-TR" dirty="0" err="1"/>
              <a:t>use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4123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9791DFC-45E2-2BEF-E767-4B389FC18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b="1" dirty="0">
                <a:latin typeface="Segoe UI" panose="020B0502040204020203" pitchFamily="34" charset="0"/>
                <a:cs typeface="Segoe UI" panose="020B0502040204020203" pitchFamily="34" charset="0"/>
              </a:rPr>
              <a:t>Mobile </a:t>
            </a:r>
            <a:r>
              <a:rPr lang="tr-TR" b="1" dirty="0" err="1">
                <a:latin typeface="Segoe UI" panose="020B0502040204020203" pitchFamily="34" charset="0"/>
                <a:cs typeface="Segoe UI" panose="020B0502040204020203" pitchFamily="34" charset="0"/>
              </a:rPr>
              <a:t>App</a:t>
            </a:r>
            <a:r>
              <a:rPr lang="tr-TR" b="1" dirty="0">
                <a:latin typeface="Segoe UI" panose="020B0502040204020203" pitchFamily="34" charset="0"/>
                <a:cs typeface="Segoe UI" panose="020B0502040204020203" pitchFamily="34" charset="0"/>
              </a:rPr>
              <a:t> UI &amp; </a:t>
            </a:r>
            <a:r>
              <a:rPr lang="tr-TR" b="1" dirty="0" err="1">
                <a:latin typeface="Segoe UI" panose="020B0502040204020203" pitchFamily="34" charset="0"/>
                <a:cs typeface="Segoe UI" panose="020B0502040204020203" pitchFamily="34" charset="0"/>
              </a:rPr>
              <a:t>Tests</a:t>
            </a:r>
            <a:endParaRPr lang="tr-T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Resim 3" descr="metin, ekran görüntüsü, multimedya, işletim sistem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9AF927E-6096-6B1E-8A1F-049471542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7082" y="1690688"/>
            <a:ext cx="2073199" cy="4488278"/>
          </a:xfrm>
          <a:prstGeom prst="rect">
            <a:avLst/>
          </a:prstGeom>
        </p:spPr>
      </p:pic>
      <p:pic>
        <p:nvPicPr>
          <p:cNvPr id="7" name="Resim 6" descr="metin, ekran görüntüsü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3E7C9DB-FFBD-826C-0C39-4348FDE2C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74" y="1690690"/>
            <a:ext cx="2073198" cy="4488276"/>
          </a:xfrm>
          <a:prstGeom prst="rect">
            <a:avLst/>
          </a:prstGeom>
        </p:spPr>
      </p:pic>
      <p:pic>
        <p:nvPicPr>
          <p:cNvPr id="11" name="Resim 10" descr="metin, ekran görüntüsü, multimedya, saat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3679A49-CD37-C8F0-76B0-26E10B7802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5519" y="1797580"/>
            <a:ext cx="2073199" cy="4488278"/>
          </a:xfrm>
          <a:prstGeom prst="rect">
            <a:avLst/>
          </a:prstGeom>
        </p:spPr>
      </p:pic>
      <p:pic>
        <p:nvPicPr>
          <p:cNvPr id="14" name="Resim 13" descr="metin, ekran görüntüsü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032BEE7-7BD9-C3E6-3151-573976F49C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3128" y="1797582"/>
            <a:ext cx="2073198" cy="4488276"/>
          </a:xfrm>
          <a:prstGeom prst="rect">
            <a:avLst/>
          </a:prstGeom>
        </p:spPr>
      </p:pic>
      <p:pic>
        <p:nvPicPr>
          <p:cNvPr id="16" name="Resim 15" descr="metin, ekran görüntüsü, duvar, iç mekan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33BF36F-944D-DB5F-0B5E-4D45554E6D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0891" y="1797582"/>
            <a:ext cx="2070218" cy="448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425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810106B-65E8-9706-6D10-D7C8030BA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2272"/>
            <a:ext cx="10515600" cy="1325563"/>
          </a:xfrm>
        </p:spPr>
        <p:txBody>
          <a:bodyPr/>
          <a:lstStyle/>
          <a:p>
            <a:pPr algn="ctr"/>
            <a:r>
              <a:rPr lang="tr-TR" b="1" dirty="0" err="1">
                <a:latin typeface=""/>
              </a:rPr>
              <a:t>Results</a:t>
            </a:r>
            <a:r>
              <a:rPr lang="tr-TR" b="1" dirty="0">
                <a:latin typeface=""/>
              </a:rPr>
              <a:t> </a:t>
            </a:r>
            <a:r>
              <a:rPr lang="tr-TR" b="1" dirty="0" err="1">
                <a:latin typeface=""/>
              </a:rPr>
              <a:t>and</a:t>
            </a:r>
            <a:r>
              <a:rPr lang="tr-TR" b="1" dirty="0">
                <a:latin typeface=""/>
              </a:rPr>
              <a:t> </a:t>
            </a:r>
            <a:r>
              <a:rPr lang="tr-TR" b="1" dirty="0" err="1">
                <a:latin typeface=""/>
              </a:rPr>
              <a:t>Discussion</a:t>
            </a:r>
            <a:endParaRPr lang="tr-TR" b="1" dirty="0">
              <a:latin typeface="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3648D76-2897-680F-0F01-29BD3FA5F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4779"/>
            <a:ext cx="6163062" cy="5119475"/>
          </a:xfrm>
        </p:spPr>
        <p:txBody>
          <a:bodyPr>
            <a:noAutofit/>
          </a:bodyPr>
          <a:lstStyle/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developed</a:t>
            </a:r>
            <a:r>
              <a:rPr lang="tr-TR" dirty="0"/>
              <a:t> </a:t>
            </a:r>
            <a:r>
              <a:rPr lang="tr-TR" b="1" dirty="0" err="1"/>
              <a:t>ScrewVision</a:t>
            </a:r>
            <a:r>
              <a:rPr lang="tr-TR" dirty="0"/>
              <a:t> </a:t>
            </a:r>
            <a:r>
              <a:rPr lang="tr-TR" dirty="0" err="1"/>
              <a:t>system</a:t>
            </a:r>
            <a:r>
              <a:rPr lang="tr-TR" dirty="0"/>
              <a:t> </a:t>
            </a:r>
            <a:r>
              <a:rPr lang="tr-TR" dirty="0" err="1"/>
              <a:t>provides</a:t>
            </a:r>
            <a:r>
              <a:rPr lang="tr-TR" dirty="0"/>
              <a:t> a </a:t>
            </a:r>
            <a:r>
              <a:rPr lang="tr-TR" dirty="0" err="1"/>
              <a:t>highly</a:t>
            </a:r>
            <a:r>
              <a:rPr lang="tr-TR" dirty="0"/>
              <a:t> </a:t>
            </a:r>
            <a:r>
              <a:rPr lang="tr-TR" dirty="0" err="1"/>
              <a:t>accurate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functional</a:t>
            </a:r>
            <a:r>
              <a:rPr lang="tr-TR" dirty="0"/>
              <a:t> mobile </a:t>
            </a:r>
            <a:r>
              <a:rPr lang="tr-TR" dirty="0" err="1"/>
              <a:t>solution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automatic</a:t>
            </a:r>
            <a:r>
              <a:rPr lang="tr-TR" dirty="0"/>
              <a:t> </a:t>
            </a:r>
            <a:r>
              <a:rPr lang="tr-TR" dirty="0" err="1"/>
              <a:t>screw</a:t>
            </a:r>
            <a:r>
              <a:rPr lang="tr-TR" dirty="0"/>
              <a:t> </a:t>
            </a:r>
            <a:r>
              <a:rPr lang="tr-TR" dirty="0" err="1"/>
              <a:t>drive</a:t>
            </a:r>
            <a:r>
              <a:rPr lang="tr-TR" dirty="0"/>
              <a:t> </a:t>
            </a:r>
            <a:r>
              <a:rPr lang="tr-TR" dirty="0" err="1"/>
              <a:t>classification</a:t>
            </a:r>
            <a:r>
              <a:rPr lang="tr-TR" dirty="0"/>
              <a:t>.</a:t>
            </a:r>
          </a:p>
          <a:p>
            <a:r>
              <a:rPr lang="tr-TR" dirty="0" err="1"/>
              <a:t>By</a:t>
            </a:r>
            <a:r>
              <a:rPr lang="tr-TR" dirty="0"/>
              <a:t> </a:t>
            </a:r>
            <a:r>
              <a:rPr lang="tr-TR" dirty="0" err="1"/>
              <a:t>combining</a:t>
            </a:r>
            <a:r>
              <a:rPr lang="tr-TR" dirty="0"/>
              <a:t> </a:t>
            </a:r>
            <a:r>
              <a:rPr lang="tr-TR" b="1" dirty="0"/>
              <a:t>YOLOv8</a:t>
            </a:r>
            <a:r>
              <a:rPr lang="tr-TR" dirty="0"/>
              <a:t> </a:t>
            </a:r>
            <a:r>
              <a:rPr lang="tr-TR" dirty="0" err="1"/>
              <a:t>and</a:t>
            </a:r>
            <a:r>
              <a:rPr lang="tr-TR" dirty="0"/>
              <a:t> </a:t>
            </a:r>
            <a:r>
              <a:rPr lang="tr-TR" b="1" dirty="0"/>
              <a:t>ONNX Runtime</a:t>
            </a:r>
            <a:r>
              <a:rPr lang="tr-TR" dirty="0"/>
              <a:t>,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application</a:t>
            </a:r>
            <a:r>
              <a:rPr lang="tr-TR" dirty="0"/>
              <a:t> </a:t>
            </a:r>
            <a:r>
              <a:rPr lang="tr-TR" dirty="0" err="1"/>
              <a:t>achieves</a:t>
            </a:r>
            <a:r>
              <a:rPr lang="tr-TR" dirty="0"/>
              <a:t> </a:t>
            </a:r>
            <a:r>
              <a:rPr lang="tr-TR" dirty="0" err="1"/>
              <a:t>both</a:t>
            </a:r>
            <a:r>
              <a:rPr lang="tr-TR" dirty="0"/>
              <a:t> </a:t>
            </a:r>
            <a:r>
              <a:rPr lang="tr-TR" dirty="0" err="1"/>
              <a:t>high</a:t>
            </a:r>
            <a:r>
              <a:rPr lang="tr-TR" dirty="0"/>
              <a:t> </a:t>
            </a:r>
            <a:r>
              <a:rPr lang="tr-TR" dirty="0" err="1"/>
              <a:t>detection</a:t>
            </a:r>
            <a:r>
              <a:rPr lang="tr-TR" dirty="0"/>
              <a:t> </a:t>
            </a:r>
            <a:r>
              <a:rPr lang="tr-TR" dirty="0" err="1"/>
              <a:t>speed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real</a:t>
            </a:r>
            <a:r>
              <a:rPr lang="tr-TR" dirty="0"/>
              <a:t>-time </a:t>
            </a:r>
            <a:r>
              <a:rPr lang="tr-TR" dirty="0" err="1"/>
              <a:t>performance</a:t>
            </a:r>
            <a:r>
              <a:rPr lang="tr-TR" dirty="0"/>
              <a:t> on mobile </a:t>
            </a:r>
            <a:r>
              <a:rPr lang="tr-TR" dirty="0" err="1"/>
              <a:t>devices</a:t>
            </a:r>
            <a:r>
              <a:rPr lang="tr-TR" dirty="0"/>
              <a:t>.</a:t>
            </a:r>
          </a:p>
          <a:p>
            <a:r>
              <a:rPr lang="tr-TR" dirty="0" err="1"/>
              <a:t>While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model </a:t>
            </a:r>
            <a:r>
              <a:rPr lang="tr-TR" dirty="0" err="1"/>
              <a:t>successfully</a:t>
            </a:r>
            <a:r>
              <a:rPr lang="tr-TR" dirty="0"/>
              <a:t> </a:t>
            </a:r>
            <a:r>
              <a:rPr lang="tr-TR" dirty="0" err="1"/>
              <a:t>generalizes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unseen</a:t>
            </a:r>
            <a:r>
              <a:rPr lang="tr-TR" dirty="0"/>
              <a:t> data, </a:t>
            </a:r>
            <a:r>
              <a:rPr lang="tr-TR" dirty="0" err="1"/>
              <a:t>occasional</a:t>
            </a:r>
            <a:r>
              <a:rPr lang="tr-TR" dirty="0"/>
              <a:t> </a:t>
            </a:r>
            <a:r>
              <a:rPr lang="tr-TR" dirty="0" err="1"/>
              <a:t>misclassification</a:t>
            </a:r>
            <a:r>
              <a:rPr lang="tr-TR" dirty="0"/>
              <a:t> </a:t>
            </a:r>
            <a:r>
              <a:rPr lang="tr-TR" dirty="0" err="1"/>
              <a:t>may</a:t>
            </a:r>
            <a:r>
              <a:rPr lang="tr-TR" dirty="0"/>
              <a:t> </a:t>
            </a:r>
            <a:r>
              <a:rPr lang="tr-TR" dirty="0" err="1"/>
              <a:t>occur</a:t>
            </a:r>
            <a:r>
              <a:rPr lang="tr-TR" dirty="0"/>
              <a:t> </a:t>
            </a:r>
            <a:r>
              <a:rPr lang="tr-TR" dirty="0" err="1"/>
              <a:t>between</a:t>
            </a:r>
            <a:r>
              <a:rPr lang="tr-TR" dirty="0"/>
              <a:t> </a:t>
            </a:r>
            <a:r>
              <a:rPr lang="tr-TR" dirty="0" err="1"/>
              <a:t>visually</a:t>
            </a:r>
            <a:r>
              <a:rPr lang="tr-TR" dirty="0"/>
              <a:t> </a:t>
            </a:r>
            <a:r>
              <a:rPr lang="tr-TR" dirty="0" err="1"/>
              <a:t>similar</a:t>
            </a:r>
            <a:r>
              <a:rPr lang="tr-TR" dirty="0"/>
              <a:t> </a:t>
            </a:r>
            <a:r>
              <a:rPr lang="tr-TR" dirty="0" err="1"/>
              <a:t>types</a:t>
            </a:r>
            <a:r>
              <a:rPr lang="tr-TR" dirty="0"/>
              <a:t> </a:t>
            </a:r>
            <a:r>
              <a:rPr lang="tr-TR" dirty="0" err="1"/>
              <a:t>due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dataset</a:t>
            </a:r>
            <a:r>
              <a:rPr lang="tr-TR" dirty="0"/>
              <a:t> </a:t>
            </a:r>
            <a:r>
              <a:rPr lang="tr-TR" dirty="0" err="1"/>
              <a:t>limitations</a:t>
            </a:r>
            <a:r>
              <a:rPr lang="tr-TR" dirty="0"/>
              <a:t>.</a:t>
            </a:r>
          </a:p>
        </p:txBody>
      </p:sp>
      <p:pic>
        <p:nvPicPr>
          <p:cNvPr id="6" name="Resim 5" descr="metin, ekran görüntüsü, web sitesi, web sayfas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FE7ED3D-1717-FC24-0738-64B5F8257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6183" y="1509820"/>
            <a:ext cx="2249241" cy="4869392"/>
          </a:xfrm>
          <a:prstGeom prst="rect">
            <a:avLst/>
          </a:prstGeom>
        </p:spPr>
      </p:pic>
      <p:pic>
        <p:nvPicPr>
          <p:cNvPr id="9" name="Resim 8" descr="metin, ekran görüntüsü, web sayfası, web site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1E8811E-1789-BF98-CCB2-44F257142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002" y="1509820"/>
            <a:ext cx="2249241" cy="486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633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2BB6EB6-3DFD-5DEB-7EFA-1806FDB6B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b="1" dirty="0" err="1">
                <a:latin typeface=""/>
              </a:rPr>
              <a:t>Future</a:t>
            </a:r>
            <a:r>
              <a:rPr lang="tr-TR" b="1" dirty="0">
                <a:latin typeface=""/>
              </a:rPr>
              <a:t> </a:t>
            </a:r>
            <a:r>
              <a:rPr lang="tr-TR" b="1" dirty="0" err="1">
                <a:latin typeface=""/>
              </a:rPr>
              <a:t>Work</a:t>
            </a:r>
            <a:endParaRPr lang="tr-TR" b="1" dirty="0">
              <a:latin typeface="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2AF4828-65A6-5711-E00A-90D325E0A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3778459"/>
          </a:xfrm>
        </p:spPr>
        <p:txBody>
          <a:bodyPr>
            <a:normAutofit/>
          </a:bodyPr>
          <a:lstStyle/>
          <a:p>
            <a:r>
              <a:rPr lang="tr-TR" b="1" dirty="0" err="1"/>
              <a:t>Expanded</a:t>
            </a:r>
            <a:r>
              <a:rPr lang="tr-TR" b="1" dirty="0"/>
              <a:t> </a:t>
            </a:r>
            <a:r>
              <a:rPr lang="tr-TR" b="1" dirty="0" err="1"/>
              <a:t>Dataset</a:t>
            </a:r>
            <a:r>
              <a:rPr lang="tr-TR" b="1" dirty="0"/>
              <a:t>:</a:t>
            </a:r>
            <a:r>
              <a:rPr lang="tr-TR" dirty="0"/>
              <a:t> </a:t>
            </a:r>
            <a:r>
              <a:rPr lang="tr-TR" dirty="0" err="1"/>
              <a:t>Retraining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a </a:t>
            </a:r>
            <a:r>
              <a:rPr lang="tr-TR" dirty="0" err="1"/>
              <a:t>larger</a:t>
            </a:r>
            <a:r>
              <a:rPr lang="tr-TR" dirty="0"/>
              <a:t>, </a:t>
            </a:r>
            <a:r>
              <a:rPr lang="tr-TR" dirty="0" err="1"/>
              <a:t>more</a:t>
            </a:r>
            <a:r>
              <a:rPr lang="tr-TR" dirty="0"/>
              <a:t> </a:t>
            </a:r>
            <a:r>
              <a:rPr lang="tr-TR" dirty="0" err="1"/>
              <a:t>diverse</a:t>
            </a:r>
            <a:r>
              <a:rPr lang="tr-TR" dirty="0"/>
              <a:t> </a:t>
            </a:r>
            <a:r>
              <a:rPr lang="tr-TR" dirty="0" err="1"/>
              <a:t>dataset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include</a:t>
            </a:r>
            <a:r>
              <a:rPr lang="tr-TR" dirty="0"/>
              <a:t> </a:t>
            </a:r>
            <a:r>
              <a:rPr lang="tr-TR" dirty="0" err="1"/>
              <a:t>specialized</a:t>
            </a:r>
            <a:r>
              <a:rPr lang="tr-TR" dirty="0"/>
              <a:t> </a:t>
            </a:r>
            <a:r>
              <a:rPr lang="tr-TR" dirty="0" err="1"/>
              <a:t>screw</a:t>
            </a:r>
            <a:r>
              <a:rPr lang="tr-TR" dirty="0"/>
              <a:t> </a:t>
            </a:r>
            <a:r>
              <a:rPr lang="tr-TR" dirty="0" err="1"/>
              <a:t>types</a:t>
            </a:r>
            <a:r>
              <a:rPr lang="tr-TR" dirty="0"/>
              <a:t> (</a:t>
            </a:r>
            <a:r>
              <a:rPr lang="tr-TR" dirty="0" err="1"/>
              <a:t>e.g</a:t>
            </a:r>
            <a:r>
              <a:rPr lang="tr-TR" dirty="0"/>
              <a:t>., Robertson, Security </a:t>
            </a:r>
            <a:r>
              <a:rPr lang="tr-TR" dirty="0" err="1"/>
              <a:t>Torx</a:t>
            </a:r>
            <a:r>
              <a:rPr lang="tr-TR" dirty="0"/>
              <a:t>).</a:t>
            </a:r>
          </a:p>
          <a:p>
            <a:r>
              <a:rPr lang="tr-TR" b="1" dirty="0"/>
              <a:t>Offline </a:t>
            </a:r>
            <a:r>
              <a:rPr lang="tr-TR" b="1" dirty="0" err="1"/>
              <a:t>Capability</a:t>
            </a:r>
            <a:r>
              <a:rPr lang="tr-TR" b="1" dirty="0"/>
              <a:t>:</a:t>
            </a:r>
            <a:r>
              <a:rPr lang="tr-TR" dirty="0"/>
              <a:t> </a:t>
            </a:r>
            <a:r>
              <a:rPr lang="tr-TR" dirty="0" err="1"/>
              <a:t>Deploying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model </a:t>
            </a:r>
            <a:r>
              <a:rPr lang="tr-TR" dirty="0" err="1"/>
              <a:t>directly</a:t>
            </a:r>
            <a:r>
              <a:rPr lang="tr-TR" dirty="0"/>
              <a:t> on-</a:t>
            </a:r>
            <a:r>
              <a:rPr lang="tr-TR" dirty="0" err="1"/>
              <a:t>device</a:t>
            </a:r>
            <a:r>
              <a:rPr lang="tr-TR" dirty="0"/>
              <a:t> (</a:t>
            </a:r>
            <a:r>
              <a:rPr lang="tr-TR" dirty="0" err="1"/>
              <a:t>Edge</a:t>
            </a:r>
            <a:r>
              <a:rPr lang="tr-TR" dirty="0"/>
              <a:t> AI)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enable</a:t>
            </a:r>
            <a:r>
              <a:rPr lang="tr-TR" dirty="0"/>
              <a:t> </a:t>
            </a:r>
            <a:r>
              <a:rPr lang="tr-TR" dirty="0" err="1"/>
              <a:t>functionality</a:t>
            </a:r>
            <a:r>
              <a:rPr lang="tr-TR" dirty="0"/>
              <a:t> </a:t>
            </a:r>
            <a:r>
              <a:rPr lang="tr-TR" dirty="0" err="1"/>
              <a:t>without</a:t>
            </a:r>
            <a:r>
              <a:rPr lang="tr-TR" dirty="0"/>
              <a:t> an internet </a:t>
            </a:r>
            <a:r>
              <a:rPr lang="tr-TR" dirty="0" err="1"/>
              <a:t>connection</a:t>
            </a:r>
            <a:r>
              <a:rPr lang="tr-TR" dirty="0"/>
              <a:t>.</a:t>
            </a:r>
          </a:p>
          <a:p>
            <a:r>
              <a:rPr lang="tr-TR" b="1" dirty="0"/>
              <a:t>AR Assistance:</a:t>
            </a:r>
            <a:r>
              <a:rPr lang="tr-TR" dirty="0"/>
              <a:t> Integration of </a:t>
            </a:r>
            <a:r>
              <a:rPr lang="tr-TR" dirty="0" err="1"/>
              <a:t>Augmented</a:t>
            </a:r>
            <a:r>
              <a:rPr lang="tr-TR" dirty="0"/>
              <a:t> </a:t>
            </a:r>
            <a:r>
              <a:rPr lang="tr-TR" dirty="0" err="1"/>
              <a:t>Reality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provide</a:t>
            </a:r>
            <a:r>
              <a:rPr lang="tr-TR" dirty="0"/>
              <a:t> </a:t>
            </a:r>
            <a:r>
              <a:rPr lang="tr-TR" dirty="0" err="1"/>
              <a:t>real</a:t>
            </a:r>
            <a:r>
              <a:rPr lang="tr-TR" dirty="0"/>
              <a:t>-time </a:t>
            </a:r>
            <a:r>
              <a:rPr lang="tr-TR" dirty="0" err="1"/>
              <a:t>screwdriver</a:t>
            </a:r>
            <a:r>
              <a:rPr lang="tr-TR" dirty="0"/>
              <a:t> size </a:t>
            </a:r>
            <a:r>
              <a:rPr lang="tr-TR" dirty="0" err="1"/>
              <a:t>matching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torque</a:t>
            </a:r>
            <a:r>
              <a:rPr lang="tr-TR" dirty="0"/>
              <a:t> </a:t>
            </a:r>
            <a:r>
              <a:rPr lang="tr-TR" dirty="0" err="1"/>
              <a:t>recommendations</a:t>
            </a:r>
            <a:r>
              <a:rPr lang="tr-TR" dirty="0"/>
              <a:t>.</a:t>
            </a:r>
          </a:p>
          <a:p>
            <a:r>
              <a:rPr lang="tr-TR" b="1" dirty="0"/>
              <a:t>Smart Inventory:</a:t>
            </a:r>
            <a:r>
              <a:rPr lang="tr-TR" dirty="0"/>
              <a:t> </a:t>
            </a:r>
            <a:r>
              <a:rPr lang="tr-TR" dirty="0" err="1"/>
              <a:t>Developing</a:t>
            </a:r>
            <a:r>
              <a:rPr lang="tr-TR" dirty="0"/>
              <a:t> a </a:t>
            </a:r>
            <a:r>
              <a:rPr lang="tr-TR" dirty="0" err="1"/>
              <a:t>feature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count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track</a:t>
            </a:r>
            <a:r>
              <a:rPr lang="tr-TR" dirty="0"/>
              <a:t> </a:t>
            </a:r>
            <a:r>
              <a:rPr lang="tr-TR" dirty="0" err="1"/>
              <a:t>screw</a:t>
            </a:r>
            <a:r>
              <a:rPr lang="tr-TR" dirty="0"/>
              <a:t> </a:t>
            </a:r>
            <a:r>
              <a:rPr lang="tr-TR" dirty="0" err="1"/>
              <a:t>inventory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workshops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hardware </a:t>
            </a:r>
            <a:r>
              <a:rPr lang="tr-TR" dirty="0" err="1"/>
              <a:t>stores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1640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E0F9D3F-0002-56C9-36E4-68673857E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7818"/>
            <a:ext cx="10515600" cy="1325563"/>
          </a:xfrm>
        </p:spPr>
        <p:txBody>
          <a:bodyPr/>
          <a:lstStyle/>
          <a:p>
            <a:pPr algn="ctr"/>
            <a:r>
              <a:rPr lang="tr-TR" b="1" dirty="0" err="1">
                <a:latin typeface=""/>
              </a:rPr>
              <a:t>References</a:t>
            </a:r>
            <a:endParaRPr lang="tr-TR" b="1" dirty="0">
              <a:latin typeface="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475CC63-E58C-390C-7DED-999037F9F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874" y="1432893"/>
            <a:ext cx="10300252" cy="5217289"/>
          </a:xfrm>
        </p:spPr>
        <p:txBody>
          <a:bodyPr>
            <a:noAutofit/>
          </a:bodyPr>
          <a:lstStyle/>
          <a:p>
            <a:r>
              <a:rPr lang="tr-TR" b="1" dirty="0" err="1"/>
              <a:t>Li</a:t>
            </a:r>
            <a:r>
              <a:rPr lang="tr-TR" b="1" dirty="0"/>
              <a:t>, Y., Wang, H., &amp; Zhao, L.</a:t>
            </a:r>
            <a:endParaRPr lang="tr-TR" dirty="0"/>
          </a:p>
          <a:p>
            <a:pPr lvl="1"/>
            <a:r>
              <a:rPr lang="tr-TR" i="1" dirty="0" err="1"/>
              <a:t>Automatic</a:t>
            </a:r>
            <a:r>
              <a:rPr lang="tr-TR" i="1" dirty="0"/>
              <a:t> </a:t>
            </a:r>
            <a:r>
              <a:rPr lang="tr-TR" i="1" dirty="0" err="1"/>
              <a:t>Screw</a:t>
            </a:r>
            <a:r>
              <a:rPr lang="tr-TR" i="1" dirty="0"/>
              <a:t> </a:t>
            </a:r>
            <a:r>
              <a:rPr lang="tr-TR" i="1" dirty="0" err="1"/>
              <a:t>Detection</a:t>
            </a:r>
            <a:r>
              <a:rPr lang="tr-TR" i="1" dirty="0"/>
              <a:t> </a:t>
            </a:r>
            <a:r>
              <a:rPr lang="tr-TR" i="1" dirty="0" err="1"/>
              <a:t>and</a:t>
            </a:r>
            <a:r>
              <a:rPr lang="tr-TR" i="1" dirty="0"/>
              <a:t> </a:t>
            </a:r>
            <a:r>
              <a:rPr lang="tr-TR" i="1" dirty="0" err="1"/>
              <a:t>Classification</a:t>
            </a:r>
            <a:r>
              <a:rPr lang="tr-TR" i="1" dirty="0"/>
              <a:t> </a:t>
            </a:r>
            <a:r>
              <a:rPr lang="tr-TR" i="1" dirty="0" err="1"/>
              <a:t>Based</a:t>
            </a:r>
            <a:r>
              <a:rPr lang="tr-TR" i="1" dirty="0"/>
              <a:t> on YOLOv5</a:t>
            </a:r>
            <a:r>
              <a:rPr lang="tr-TR" dirty="0"/>
              <a:t>,</a:t>
            </a:r>
          </a:p>
          <a:p>
            <a:pPr lvl="1"/>
            <a:r>
              <a:rPr lang="tr-TR" dirty="0" err="1"/>
              <a:t>Journal</a:t>
            </a:r>
            <a:r>
              <a:rPr lang="tr-TR" dirty="0"/>
              <a:t> of </a:t>
            </a:r>
            <a:r>
              <a:rPr lang="tr-TR" dirty="0" err="1"/>
              <a:t>Physics</a:t>
            </a:r>
            <a:r>
              <a:rPr lang="tr-TR" dirty="0"/>
              <a:t>: Conference Series, 2021.</a:t>
            </a:r>
          </a:p>
          <a:p>
            <a:r>
              <a:rPr lang="tr-TR" b="1" dirty="0" err="1"/>
              <a:t>Jocher</a:t>
            </a:r>
            <a:r>
              <a:rPr lang="tr-TR" b="1" dirty="0"/>
              <a:t>, G., et al.</a:t>
            </a:r>
            <a:endParaRPr lang="tr-TR" dirty="0"/>
          </a:p>
          <a:p>
            <a:pPr lvl="1"/>
            <a:r>
              <a:rPr lang="tr-TR" i="1" dirty="0" err="1"/>
              <a:t>Ultralytics</a:t>
            </a:r>
            <a:r>
              <a:rPr lang="tr-TR" i="1" dirty="0"/>
              <a:t> YOLOv8 </a:t>
            </a:r>
            <a:r>
              <a:rPr lang="tr-TR" i="1" dirty="0" err="1"/>
              <a:t>Documentation</a:t>
            </a:r>
            <a:r>
              <a:rPr lang="tr-TR" dirty="0"/>
              <a:t>,</a:t>
            </a:r>
          </a:p>
          <a:p>
            <a:pPr lvl="1"/>
            <a:r>
              <a:rPr lang="tr-TR" u="sng" dirty="0">
                <a:hlinkClick r:id="rId2"/>
              </a:rPr>
              <a:t>https://docs.ultralytics.com</a:t>
            </a:r>
            <a:r>
              <a:rPr lang="tr-TR" dirty="0"/>
              <a:t>, 2023.</a:t>
            </a:r>
          </a:p>
          <a:p>
            <a:r>
              <a:rPr lang="tr-TR" b="1" dirty="0" err="1"/>
              <a:t>Bai</a:t>
            </a:r>
            <a:r>
              <a:rPr lang="tr-TR" b="1" dirty="0"/>
              <a:t>, J., et al.</a:t>
            </a:r>
            <a:endParaRPr lang="tr-TR" dirty="0"/>
          </a:p>
          <a:p>
            <a:pPr lvl="1"/>
            <a:r>
              <a:rPr lang="tr-TR" i="1" dirty="0"/>
              <a:t>ONNX Runtime: Cross-Platform, High </a:t>
            </a:r>
            <a:r>
              <a:rPr lang="tr-TR" i="1" dirty="0" err="1"/>
              <a:t>Performance</a:t>
            </a:r>
            <a:r>
              <a:rPr lang="tr-TR" i="1" dirty="0"/>
              <a:t> ML </a:t>
            </a:r>
            <a:r>
              <a:rPr lang="tr-TR" i="1" dirty="0" err="1"/>
              <a:t>Inferencing</a:t>
            </a:r>
            <a:r>
              <a:rPr lang="tr-TR" dirty="0"/>
              <a:t>,</a:t>
            </a:r>
          </a:p>
          <a:p>
            <a:pPr lvl="1"/>
            <a:r>
              <a:rPr lang="tr-TR" u="sng" dirty="0">
                <a:hlinkClick r:id="rId3"/>
              </a:rPr>
              <a:t>https://onnxruntime.ai</a:t>
            </a:r>
            <a:r>
              <a:rPr lang="tr-TR" dirty="0"/>
              <a:t>, Microsoft, 2020.</a:t>
            </a:r>
          </a:p>
          <a:p>
            <a:r>
              <a:rPr lang="tr-TR" b="1" dirty="0" err="1"/>
              <a:t>Roboflow</a:t>
            </a:r>
            <a:r>
              <a:rPr lang="tr-TR" b="1" dirty="0"/>
              <a:t> </a:t>
            </a:r>
            <a:r>
              <a:rPr lang="tr-TR" b="1" dirty="0" err="1"/>
              <a:t>Inc</a:t>
            </a:r>
            <a:r>
              <a:rPr lang="tr-TR" b="1" dirty="0"/>
              <a:t>.</a:t>
            </a:r>
            <a:endParaRPr lang="tr-TR" dirty="0"/>
          </a:p>
          <a:p>
            <a:pPr lvl="1"/>
            <a:r>
              <a:rPr lang="tr-TR" i="1" dirty="0" err="1"/>
              <a:t>Roboflow</a:t>
            </a:r>
            <a:r>
              <a:rPr lang="tr-TR" i="1" dirty="0"/>
              <a:t>: </a:t>
            </a:r>
            <a:r>
              <a:rPr lang="tr-TR" i="1" dirty="0" err="1"/>
              <a:t>Computer</a:t>
            </a:r>
            <a:r>
              <a:rPr lang="tr-TR" i="1" dirty="0"/>
              <a:t> </a:t>
            </a:r>
            <a:r>
              <a:rPr lang="tr-TR" i="1" dirty="0" err="1"/>
              <a:t>Vision</a:t>
            </a:r>
            <a:r>
              <a:rPr lang="tr-TR" i="1" dirty="0"/>
              <a:t> </a:t>
            </a:r>
            <a:r>
              <a:rPr lang="tr-TR" i="1" dirty="0" err="1"/>
              <a:t>Datasets</a:t>
            </a:r>
            <a:r>
              <a:rPr lang="tr-TR" i="1" dirty="0"/>
              <a:t> </a:t>
            </a:r>
            <a:r>
              <a:rPr lang="tr-TR" i="1" dirty="0" err="1"/>
              <a:t>and</a:t>
            </a:r>
            <a:r>
              <a:rPr lang="tr-TR" i="1" dirty="0"/>
              <a:t> </a:t>
            </a:r>
            <a:r>
              <a:rPr lang="tr-TR" i="1" dirty="0" err="1"/>
              <a:t>Annotation</a:t>
            </a:r>
            <a:r>
              <a:rPr lang="tr-TR" i="1" dirty="0"/>
              <a:t> Tools</a:t>
            </a:r>
            <a:r>
              <a:rPr lang="tr-TR" dirty="0"/>
              <a:t>,</a:t>
            </a:r>
          </a:p>
          <a:p>
            <a:pPr lvl="1"/>
            <a:r>
              <a:rPr lang="tr-TR" u="sng" dirty="0">
                <a:hlinkClick r:id="rId4"/>
              </a:rPr>
              <a:t>https://roboflow.com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7913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831</Words>
  <Application>Microsoft Macintosh PowerPoint</Application>
  <PresentationFormat>Geniş ekran</PresentationFormat>
  <Paragraphs>108</Paragraphs>
  <Slides>13</Slides>
  <Notes>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Segoe UI</vt:lpstr>
      <vt:lpstr>Office Teması</vt:lpstr>
      <vt:lpstr>   BIM 439 DATA MINING PROJECT  Project Name:   ScrewVision: Intelligent Screw Classification using YOLOv8  Team Members:   Ömer EDEBALI - 030721030 Abdullah Kerem YAVUZ - 030722098   </vt:lpstr>
      <vt:lpstr>Abstract</vt:lpstr>
      <vt:lpstr>Introduction</vt:lpstr>
      <vt:lpstr>Literature Review</vt:lpstr>
      <vt:lpstr>Methodology</vt:lpstr>
      <vt:lpstr>Methodology</vt:lpstr>
      <vt:lpstr>Experimental Results</vt:lpstr>
      <vt:lpstr>Experimental Results</vt:lpstr>
      <vt:lpstr>Mobile App Features </vt:lpstr>
      <vt:lpstr>Mobile App UI &amp; Tests</vt:lpstr>
      <vt:lpstr>Results and Discussion</vt:lpstr>
      <vt:lpstr>Future Work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Ömer Edebalı</dc:creator>
  <cp:lastModifiedBy>Ömer Edebalı</cp:lastModifiedBy>
  <cp:revision>18</cp:revision>
  <dcterms:created xsi:type="dcterms:W3CDTF">2025-12-20T12:32:24Z</dcterms:created>
  <dcterms:modified xsi:type="dcterms:W3CDTF">2026-01-04T20:17:09Z</dcterms:modified>
</cp:coreProperties>
</file>